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F2F5C-0711-4EF5-90E7-ADFF7452EF8B}"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9296B-A155-4003-8A74-E6217F6FC264}" type="slidenum">
              <a:rPr lang="en-US" smtClean="0"/>
              <a:t>‹#›</a:t>
            </a:fld>
            <a:endParaRPr lang="en-US"/>
          </a:p>
        </p:txBody>
      </p:sp>
    </p:spTree>
    <p:extLst>
      <p:ext uri="{BB962C8B-B14F-4D97-AF65-F5344CB8AC3E}">
        <p14:creationId xmlns:p14="http://schemas.microsoft.com/office/powerpoint/2010/main" val="3941255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Good day, my name is Andrew Osabuede Gabriel. My solution is NovaWallet, a wallet API designed around financial correctness: a transfer must not double-spend, an HTTP retry must not move money twice, and every committed movement must leave durable evidence. I will explain the architecture, the critical transaction flow, and the results verified on 16 September 2026. This is an assessment implementation, not a claim of production banking readiness.</a:t>
            </a:r>
          </a:p>
        </p:txBody>
      </p:sp>
      <p:sp>
        <p:nvSpPr>
          <p:cNvPr id="4" name="Slide Number Placeholder 3"/>
          <p:cNvSpPr>
            <a:spLocks noGrp="1"/>
          </p:cNvSpPr>
          <p:nvPr>
            <p:ph type="sldNum" sz="quarter" idx="5"/>
          </p:nvPr>
        </p:nvSpPr>
        <p:spPr/>
        <p:txBody>
          <a:bodyPr/>
          <a:lstStyle/>
          <a:p>
            <a:fld id="{0939296B-A155-4003-8A74-E6217F6FC264}" type="slidenum">
              <a:rPr lang="en-US" smtClean="0"/>
              <a:t>1</a:t>
            </a:fld>
            <a:endParaRPr lang="en-US"/>
          </a:p>
        </p:txBody>
      </p:sp>
    </p:spTree>
    <p:extLst>
      <p:ext uri="{BB962C8B-B14F-4D97-AF65-F5344CB8AC3E}">
        <p14:creationId xmlns:p14="http://schemas.microsoft.com/office/powerpoint/2010/main" val="1233616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A new wallet starts at zero and uses NGN. All amounts are signed 64-bit integer kobo, never floating-point money. A transfer debits and credits atomically and never permits a negative balance. Repeating an operation with the same key and payload returns its stored outcome, while a changed payload is rejected. Outbound transfers are capped at NGN 500,000 per wallet per WAT day, resetting at midnight. Each committed movement must have financial history and a separate audit entry. JWT, paginated statements and one-command Docker startup complete the mandatory scope. Inbound credit simulates NIP; it is not a real payment-network integration.</a:t>
            </a:r>
          </a:p>
        </p:txBody>
      </p:sp>
      <p:sp>
        <p:nvSpPr>
          <p:cNvPr id="4" name="Slide Number Placeholder 3"/>
          <p:cNvSpPr>
            <a:spLocks noGrp="1"/>
          </p:cNvSpPr>
          <p:nvPr>
            <p:ph type="sldNum" sz="quarter" idx="5"/>
          </p:nvPr>
        </p:nvSpPr>
        <p:spPr/>
        <p:txBody>
          <a:bodyPr/>
          <a:lstStyle/>
          <a:p>
            <a:fld id="{0939296B-A155-4003-8A74-E6217F6FC264}" type="slidenum">
              <a:rPr lang="en-US" smtClean="0"/>
              <a:t>2</a:t>
            </a:fld>
            <a:endParaRPr lang="en-US"/>
          </a:p>
        </p:txBody>
      </p:sp>
    </p:spTree>
    <p:extLst>
      <p:ext uri="{BB962C8B-B14F-4D97-AF65-F5344CB8AC3E}">
        <p14:creationId xmlns:p14="http://schemas.microsoft.com/office/powerpoint/2010/main" val="1817955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seconds. I selected a single deployable application with controller-based vertical slices. Each use case owns its request, response and handler, such as CreateWallet or TransferFunds. Controllers bind HTTP and apply authorization policies. Handlers orchestrate the use case, while domain methods enforce money arithmetic. Shared infrastructure owns the database transaction and idempotency protocol, so credits and transfers do not duplicate financial safeguards. EF Core maps the data, and SQL Server provides the transaction, locks and constraints. I deliberately avoided a mediator, a message broker and premature microservices. Interfaces are introduced where replacement or testing justifies them, not for each class. The shared database also coordinates independent API hosts.</a:t>
            </a:r>
          </a:p>
        </p:txBody>
      </p:sp>
      <p:sp>
        <p:nvSpPr>
          <p:cNvPr id="4" name="Slide Number Placeholder 3"/>
          <p:cNvSpPr>
            <a:spLocks noGrp="1"/>
          </p:cNvSpPr>
          <p:nvPr>
            <p:ph type="sldNum" sz="quarter" idx="5"/>
          </p:nvPr>
        </p:nvSpPr>
        <p:spPr/>
        <p:txBody>
          <a:bodyPr/>
          <a:lstStyle/>
          <a:p>
            <a:fld id="{0939296B-A155-4003-8A74-E6217F6FC264}" type="slidenum">
              <a:rPr lang="en-US" smtClean="0"/>
              <a:t>3</a:t>
            </a:fld>
            <a:endParaRPr lang="en-US"/>
          </a:p>
        </p:txBody>
      </p:sp>
    </p:spTree>
    <p:extLst>
      <p:ext uri="{BB962C8B-B14F-4D97-AF65-F5344CB8AC3E}">
        <p14:creationId xmlns:p14="http://schemas.microsoft.com/office/powerpoint/2010/main" val="760307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Wallet holds the current spendable balance and one unique customer identity. Transfer records a completed source-to-destination movement. WalletTransactions provide statement entries with before and after balances, and AuditEntries separately record the actor, operation and trace. IdempotencyRecords bind a scoped key and request fingerprint to a terminal HTTP outcome. A successful transfer creates one transfer, two statement entries and two audit entries. SQL checks protect non-negative balances and valid arithmetic; unique indexes protect customer wallets, scoped keys and wallet-operation evidence. Audit immutability is reinforced by runtime permissions, SQL triggers and the EF save guard. Administrators remain a separate threat boundary.</a:t>
            </a:r>
          </a:p>
        </p:txBody>
      </p:sp>
      <p:sp>
        <p:nvSpPr>
          <p:cNvPr id="4" name="Slide Number Placeholder 3"/>
          <p:cNvSpPr>
            <a:spLocks noGrp="1"/>
          </p:cNvSpPr>
          <p:nvPr>
            <p:ph type="sldNum" sz="quarter" idx="5"/>
          </p:nvPr>
        </p:nvSpPr>
        <p:spPr/>
        <p:txBody>
          <a:bodyPr/>
          <a:lstStyle/>
          <a:p>
            <a:fld id="{0939296B-A155-4003-8A74-E6217F6FC264}" type="slidenum">
              <a:rPr lang="en-US" smtClean="0"/>
              <a:t>4</a:t>
            </a:fld>
            <a:endParaRPr lang="en-US"/>
          </a:p>
        </p:txBody>
      </p:sp>
    </p:spTree>
    <p:extLst>
      <p:ext uri="{BB962C8B-B14F-4D97-AF65-F5344CB8AC3E}">
        <p14:creationId xmlns:p14="http://schemas.microsoft.com/office/powerpoint/2010/main" val="2197424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90 seconds. The controller authenticates the customer and validates integer inputs. Inside the financial transaction, the first lock is a SQL application lock for the scoped idempotency key. If a committed outcome exists, we replay it or reject a changed fingerprint. For a new operation, source and destination wallets are locked sequentially using UPDLOCK and HOLDLOCK in deterministic ordinal GUID-string order. The source ownership is rechecked under lock. We then check funds, recipient overflow and daily outbound usage while the source remains locked. WAT time is captured after wallet locks. We stage the debit, credit, transfer, two history entries, two audit entries and stored response, then commit them together. If evidence insertion fails, balances and the key roll back too. Lock timeout returns a retryable 503; transient SQL faults use bounded whole-transaction retries with a fresh context. The source lock prevents concurrent requests from both passing a stale balance or limit check. Different keys do not bypass that protection.</a:t>
            </a:r>
          </a:p>
        </p:txBody>
      </p:sp>
      <p:sp>
        <p:nvSpPr>
          <p:cNvPr id="4" name="Slide Number Placeholder 3"/>
          <p:cNvSpPr>
            <a:spLocks noGrp="1"/>
          </p:cNvSpPr>
          <p:nvPr>
            <p:ph type="sldNum" sz="quarter" idx="5"/>
          </p:nvPr>
        </p:nvSpPr>
        <p:spPr/>
        <p:txBody>
          <a:bodyPr/>
          <a:lstStyle/>
          <a:p>
            <a:fld id="{0939296B-A155-4003-8A74-E6217F6FC264}" type="slidenum">
              <a:rPr lang="en-US" smtClean="0"/>
              <a:t>5</a:t>
            </a:fld>
            <a:endParaRPr lang="en-US"/>
          </a:p>
        </p:txBody>
      </p:sp>
    </p:spTree>
    <p:extLst>
      <p:ext uri="{BB962C8B-B14F-4D97-AF65-F5344CB8AC3E}">
        <p14:creationId xmlns:p14="http://schemas.microsoft.com/office/powerpoint/2010/main" val="783009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70 seconds. Transfer keys are scoped to the customer and compared exactly. A canonical SHA-256 fingerprint binds source, destination and amount to the key. The transaction-owned SQL key lock serializes duplicate submissions even when they reach different API hosts. The same fingerprint returns the original stored status and JSON with Idempotency-Replayed true. A changed payload gets HTTP 409 without modifying the original outcome. Financial 422 rejections are stored too: adding funds later does not change that key's previous rejection, so a new intentional attempt requires a new key. Syntax, authorization and existence failures do not reserve the key. Funding uses a global simulator reference scope to deduplicate across funding identities. For transient SQL failures, a fresh attempt reacquires the key and checks committed state before doing money work. Deliberate lost-commit-response injection has not been executed, so I describe that recovery protocol without claiming fault-test evidence or end-to-end exactly-once delivery.</a:t>
            </a:r>
          </a:p>
        </p:txBody>
      </p:sp>
      <p:sp>
        <p:nvSpPr>
          <p:cNvPr id="4" name="Slide Number Placeholder 3"/>
          <p:cNvSpPr>
            <a:spLocks noGrp="1"/>
          </p:cNvSpPr>
          <p:nvPr>
            <p:ph type="sldNum" sz="quarter" idx="5"/>
          </p:nvPr>
        </p:nvSpPr>
        <p:spPr/>
        <p:txBody>
          <a:bodyPr/>
          <a:lstStyle/>
          <a:p>
            <a:fld id="{0939296B-A155-4003-8A74-E6217F6FC264}" type="slidenum">
              <a:rPr lang="en-US" smtClean="0"/>
              <a:t>6</a:t>
            </a:fld>
            <a:endParaRPr lang="en-US"/>
          </a:p>
        </p:txBody>
      </p:sp>
    </p:spTree>
    <p:extLst>
      <p:ext uri="{BB962C8B-B14F-4D97-AF65-F5344CB8AC3E}">
        <p14:creationId xmlns:p14="http://schemas.microsoft.com/office/powerpoint/2010/main" val="2672606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65 seconds. WAT is UTC plus one hour with no daylight saving. Midnight WAT corresponds to 23:00 UTC on the preceding date. While the source wallet is locked, the handler sums completed outbound transfers in a half-open UTC window and checks that prior usage plus this amount is no more than 50 million kobo. The wide SQL integer aggregate avoids bigint sum overflow. Incoming funds do not consume or restore outbound allowance. Audit entries are inserted in the same transaction as the money movement, so failed audit insertion prevents the transfer from committing. The runtime identity can select and insert audit, history and transfer records but cannot update or delete them. Triggers add protection against privileged accidental edits; they are not a defense against a malicious database administrator who can disable them. Operational JSON logs remain separate from financial evidence.</a:t>
            </a:r>
          </a:p>
        </p:txBody>
      </p:sp>
      <p:sp>
        <p:nvSpPr>
          <p:cNvPr id="4" name="Slide Number Placeholder 3"/>
          <p:cNvSpPr>
            <a:spLocks noGrp="1"/>
          </p:cNvSpPr>
          <p:nvPr>
            <p:ph type="sldNum" sz="quarter" idx="5"/>
          </p:nvPr>
        </p:nvSpPr>
        <p:spPr/>
        <p:txBody>
          <a:bodyPr/>
          <a:lstStyle/>
          <a:p>
            <a:fld id="{0939296B-A155-4003-8A74-E6217F6FC264}" type="slidenum">
              <a:rPr lang="en-US" smtClean="0"/>
              <a:t>7</a:t>
            </a:fld>
            <a:endParaRPr lang="en-US"/>
          </a:p>
        </p:txBody>
      </p:sp>
    </p:spTree>
    <p:extLst>
      <p:ext uri="{BB962C8B-B14F-4D97-AF65-F5344CB8AC3E}">
        <p14:creationId xmlns:p14="http://schemas.microsoft.com/office/powerpoint/2010/main" val="3532032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65 seconds. JWT validation checks signature, algorithm, issuer, audience and expiry. Customers can create their own wallet, view their own balance and statement, and transfer only from their own source wallet. The funding role controls simulated inbound credit, and auditors or administrators inspect audit trails. Missing authentication is 401, forbidden access is 403, and errors use consistent Problem Details with trace IDs. Strict JSON rejects fractional and string amounts. Rate limiting is per instance; it is an operational control, not the financial integrity mechanism. Docker Compose starts SQL Server, then a privileged one-shot migration/bootstrap process, and finally the API using a restricted runtime login. The API runs as non-root and SQL is not published to the host. Readiness probes the database while liveness only confirms the process. Demo credentials and CLI tokens are assessment-only: production requires managed identity, secret storage and a real identity provider.</a:t>
            </a:r>
          </a:p>
        </p:txBody>
      </p:sp>
      <p:sp>
        <p:nvSpPr>
          <p:cNvPr id="4" name="Slide Number Placeholder 3"/>
          <p:cNvSpPr>
            <a:spLocks noGrp="1"/>
          </p:cNvSpPr>
          <p:nvPr>
            <p:ph type="sldNum" sz="quarter" idx="5"/>
          </p:nvPr>
        </p:nvSpPr>
        <p:spPr/>
        <p:txBody>
          <a:bodyPr/>
          <a:lstStyle/>
          <a:p>
            <a:fld id="{0939296B-A155-4003-8A74-E6217F6FC264}" type="slidenum">
              <a:rPr lang="en-US" smtClean="0"/>
              <a:t>8</a:t>
            </a:fld>
            <a:endParaRPr lang="en-US"/>
          </a:p>
        </p:txBody>
      </p:sp>
    </p:spTree>
    <p:extLst>
      <p:ext uri="{BB962C8B-B14F-4D97-AF65-F5344CB8AC3E}">
        <p14:creationId xmlns:p14="http://schemas.microsoft.com/office/powerpoint/2010/main" val="3352569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85 seconds. The unit suite has 23 passing tests and the SQL integration suite has 15. The key spending test sends 100 simultaneous NGN 10,000 transfers against NGN 100,000: exactly 10 succeed and 90 reject for insufficient funds, leaving source zero and destination NGN 100,000. It also reconciles ten transfer records, twenty history entries and twenty audit entries. Fifty identical requests across two hosts produce one movement and 49 replays. Opposing transfers preserve total balances. Other tests cover daily-limit contention, actual WAT midnight reset, credit overflow, changed-payload conflict, authorization and integer inputs. Injected audit-insert failure proves whole-transaction rollback, and direct SQL attempts prove the append-only protections. The deployed Compose smoke separately reconciled source NGN 90,000 and destination NGN 10,000, exact replay and HTTP 409. These are correctness tests, not a throughput benchmark. Clean-checkout restart-persistence acceptance and deliberate deadlock or lost-commit-response injection remain unexecuted.</a:t>
            </a:r>
          </a:p>
        </p:txBody>
      </p:sp>
      <p:sp>
        <p:nvSpPr>
          <p:cNvPr id="4" name="Slide Number Placeholder 3"/>
          <p:cNvSpPr>
            <a:spLocks noGrp="1"/>
          </p:cNvSpPr>
          <p:nvPr>
            <p:ph type="sldNum" sz="quarter" idx="5"/>
          </p:nvPr>
        </p:nvSpPr>
        <p:spPr/>
        <p:txBody>
          <a:bodyPr/>
          <a:lstStyle/>
          <a:p>
            <a:fld id="{0939296B-A155-4003-8A74-E6217F6FC264}" type="slidenum">
              <a:rPr lang="en-US" smtClean="0"/>
              <a:t>9</a:t>
            </a:fld>
            <a:endParaRPr lang="en-US"/>
          </a:p>
        </p:txBody>
      </p:sp>
    </p:spTree>
    <p:extLst>
      <p:ext uri="{BB962C8B-B14F-4D97-AF65-F5344CB8AC3E}">
        <p14:creationId xmlns:p14="http://schemas.microsoft.com/office/powerpoint/2010/main" val="2877879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seconds. The assessment delivers a single application, local SQL transactions, durable idempotency, audited movements and runnable evidence. The trade-off is intentional serialization on a hot wallet and reliance on one database's availability; throughput and lock behavior must be measured before scaling. A paired wallet transfer is not a complete bank general ledger. Real settlement, KYC, reversals and external payment rails are outside scope. No message broker or transactional outbox is included because the mandatory workflow does not publish events. If external side effects are introduced, an outbox becomes a deliberate extension. Before production I would integrate managed authentication and secrets, plan the runtime support upgrade, add administrator tamper evidence, and validate disaster recovery, load and fault scenarios. AI accelerated drafting, but unsafe application-only audit advice was corrected and real HTTP SQL tests caught a DTO validation bug. My key message is that financial integrity is enforced where concurrent writers meet: inside the database transaction. Thank you; I welcome your questions.</a:t>
            </a:r>
          </a:p>
        </p:txBody>
      </p:sp>
      <p:sp>
        <p:nvSpPr>
          <p:cNvPr id="4" name="Slide Number Placeholder 3"/>
          <p:cNvSpPr>
            <a:spLocks noGrp="1"/>
          </p:cNvSpPr>
          <p:nvPr>
            <p:ph type="sldNum" sz="quarter" idx="5"/>
          </p:nvPr>
        </p:nvSpPr>
        <p:spPr/>
        <p:txBody>
          <a:bodyPr/>
          <a:lstStyle/>
          <a:p>
            <a:fld id="{0939296B-A155-4003-8A74-E6217F6FC264}" type="slidenum">
              <a:rPr lang="en-US" smtClean="0"/>
              <a:t>10</a:t>
            </a:fld>
            <a:endParaRPr lang="en-US"/>
          </a:p>
        </p:txBody>
      </p:sp>
    </p:spTree>
    <p:extLst>
      <p:ext uri="{BB962C8B-B14F-4D97-AF65-F5344CB8AC3E}">
        <p14:creationId xmlns:p14="http://schemas.microsoft.com/office/powerpoint/2010/main" val="1562850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only. All routes use /api/v1. The transfer Idempotency-Key header is required; credit reference supplies the simulator deduplication identity. Source customer ownership is checked again under locks. Duplicate wallet creation returns 409 with the existing walletId and a Location link. Statement reads use snapshot isolation for consistent count and page items within one response; page requests are not a permanent cross-page snapshot. Demo token issuance is development-only CLI, not an anonymous HTTP token endpoint.</a:t>
            </a:r>
          </a:p>
        </p:txBody>
      </p:sp>
      <p:sp>
        <p:nvSpPr>
          <p:cNvPr id="4" name="Slide Number Placeholder 3"/>
          <p:cNvSpPr>
            <a:spLocks noGrp="1"/>
          </p:cNvSpPr>
          <p:nvPr>
            <p:ph type="sldNum" sz="quarter" idx="5"/>
          </p:nvPr>
        </p:nvSpPr>
        <p:spPr/>
        <p:txBody>
          <a:bodyPr/>
          <a:lstStyle/>
          <a:p>
            <a:fld id="{0939296B-A155-4003-8A74-E6217F6FC264}" type="slidenum">
              <a:rPr lang="en-US" smtClean="0"/>
              <a:t>11</a:t>
            </a:fld>
            <a:endParaRPr lang="en-US"/>
          </a:p>
        </p:txBody>
      </p:sp>
    </p:spTree>
    <p:extLst>
      <p:ext uri="{BB962C8B-B14F-4D97-AF65-F5344CB8AC3E}">
        <p14:creationId xmlns:p14="http://schemas.microsoft.com/office/powerpoint/2010/main" val="2950537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only. Ordinary financial rejections are returned as structured decisions, not exceptions. Stored 422 outcomes include insufficient funds, daily cap and overflow. 400, 403 and 404 do not consume a new key. Technical faults dispose the transaction; when commit acknowledgement is uncertain, clients must not assume rollback. Retry using the same key so the next attempt checks durable outcome before mutation. No terminal Processing row is committed. Bounded whole-transaction retries use a new DbContext; they are not retries of only the final SQL command. A terminal rejection remains authoritative for its key even after funds or the day change. The advanced lost-commit response and deliberate deadlock injection tests are not part of the executed evidence.</a:t>
            </a:r>
          </a:p>
        </p:txBody>
      </p:sp>
      <p:sp>
        <p:nvSpPr>
          <p:cNvPr id="4" name="Slide Number Placeholder 3"/>
          <p:cNvSpPr>
            <a:spLocks noGrp="1"/>
          </p:cNvSpPr>
          <p:nvPr>
            <p:ph type="sldNum" sz="quarter" idx="5"/>
          </p:nvPr>
        </p:nvSpPr>
        <p:spPr/>
        <p:txBody>
          <a:bodyPr/>
          <a:lstStyle/>
          <a:p>
            <a:fld id="{0939296B-A155-4003-8A74-E6217F6FC264}" type="slidenum">
              <a:rPr lang="en-US" smtClean="0"/>
              <a:t>12</a:t>
            </a:fld>
            <a:endParaRPr lang="en-US"/>
          </a:p>
        </p:txBody>
      </p:sp>
    </p:spTree>
    <p:extLst>
      <p:ext uri="{BB962C8B-B14F-4D97-AF65-F5344CB8AC3E}">
        <p14:creationId xmlns:p14="http://schemas.microsoft.com/office/powerpoint/2010/main" val="3685470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only. ChatGPT supported requirements and architecture discussions. Codex drafted the TD and implementation, migrations and tests, then executed verification. The earlier application-only audit advice was too weak, so the implementation added restricted SQL permissions, immutability triggers and EF guards. A genuine implementation mistake targeted validation attributes at generated properties on positional request records; SQL HTTP tests failed before wallet creation, exposing it. Attributes were moved to constructor parameters, and the suite was rerun successfully. AI_USAGE.md records actual prompts and corrections. The candidate should review and own the reasoning; neither generated code nor this deck is a regulatory assurance. Test counts are a 16 September snapshot and should be rerun if money-path code changes.</a:t>
            </a:r>
          </a:p>
        </p:txBody>
      </p:sp>
      <p:sp>
        <p:nvSpPr>
          <p:cNvPr id="4" name="Slide Number Placeholder 3"/>
          <p:cNvSpPr>
            <a:spLocks noGrp="1"/>
          </p:cNvSpPr>
          <p:nvPr>
            <p:ph type="sldNum" sz="quarter" idx="5"/>
          </p:nvPr>
        </p:nvSpPr>
        <p:spPr/>
        <p:txBody>
          <a:bodyPr/>
          <a:lstStyle/>
          <a:p>
            <a:fld id="{0939296B-A155-4003-8A74-E6217F6FC264}" type="slidenum">
              <a:rPr lang="en-US" smtClean="0"/>
              <a:t>13</a:t>
            </a:fld>
            <a:endParaRPr lang="en-US"/>
          </a:p>
        </p:txBody>
      </p:sp>
    </p:spTree>
    <p:extLst>
      <p:ext uri="{BB962C8B-B14F-4D97-AF65-F5344CB8AC3E}">
        <p14:creationId xmlns:p14="http://schemas.microsoft.com/office/powerpoint/2010/main" val="2432557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0AA9D-C851-FB7C-FB8D-F5A9E5D8A7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D8F609-ED67-3BC6-7129-C3A7474C73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AEF598-F8C8-402D-3E86-56BAC0335B40}"/>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5" name="Footer Placeholder 4">
            <a:extLst>
              <a:ext uri="{FF2B5EF4-FFF2-40B4-BE49-F238E27FC236}">
                <a16:creationId xmlns:a16="http://schemas.microsoft.com/office/drawing/2014/main" id="{1603ACD4-C5C9-F19D-F641-E2CFD59AD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BC79BC-D002-CE9B-3BC4-2AB0F4C79840}"/>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1641852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3A95-B581-9C3F-1368-376B624F5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B6A632-30C1-29EC-ED1B-011D8A10CC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ABC72-EB63-493F-B440-4EDB928408E0}"/>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5" name="Footer Placeholder 4">
            <a:extLst>
              <a:ext uri="{FF2B5EF4-FFF2-40B4-BE49-F238E27FC236}">
                <a16:creationId xmlns:a16="http://schemas.microsoft.com/office/drawing/2014/main" id="{88F7D920-73BE-FC0C-4033-DBEB577E6D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38EF1C-29D5-E2E3-8152-BEEE85F07255}"/>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3181090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2FD3-8BDA-74DA-2C59-8D7FB36ECD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F85493-E0DB-3C8A-AD60-FE381858B7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03097C-8996-2E1F-20A3-2CB8F33F5811}"/>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5" name="Footer Placeholder 4">
            <a:extLst>
              <a:ext uri="{FF2B5EF4-FFF2-40B4-BE49-F238E27FC236}">
                <a16:creationId xmlns:a16="http://schemas.microsoft.com/office/drawing/2014/main" id="{2726604F-4277-29CD-2507-3DF8E5022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7B2CFC-956E-CD91-02D5-C840865EB8C0}"/>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427573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CBFDA-7EB3-D85D-B69F-6CF6664C74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63BC75-6EA1-409B-F584-8B1F71925F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F6D000-8EA4-A038-ADF7-11D5E155D4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8E6177-71E9-8B1D-B2B2-9322DB56E293}"/>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6" name="Footer Placeholder 5">
            <a:extLst>
              <a:ext uri="{FF2B5EF4-FFF2-40B4-BE49-F238E27FC236}">
                <a16:creationId xmlns:a16="http://schemas.microsoft.com/office/drawing/2014/main" id="{1C3AD26C-3A9D-6DE7-8281-3A60494BA4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CAB3C6-50E7-C059-2490-8A9652B1BA70}"/>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4069201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D26CD-09ED-0018-64A7-EA81696CC8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8D77A8-7093-CF73-1795-6C60F3AE0E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F19630-EB39-5A28-9225-9142991A91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4DEEFC-A3B7-9226-6548-F80F9C5CBC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FC7F40-5A94-C23F-5065-5B53E76805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5B7CD2-C439-6C06-C3ED-12DB58AB9B3D}"/>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8" name="Footer Placeholder 7">
            <a:extLst>
              <a:ext uri="{FF2B5EF4-FFF2-40B4-BE49-F238E27FC236}">
                <a16:creationId xmlns:a16="http://schemas.microsoft.com/office/drawing/2014/main" id="{DDA37189-BB93-929C-3488-FFF97CFCC0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905DAE-BE24-24C5-9A68-BF8FDFA7327F}"/>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28495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AD278-618B-BBE0-B24E-C0BC0E6F7D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642837-3116-7423-7D68-B3A8BDC9FDD0}"/>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4" name="Footer Placeholder 3">
            <a:extLst>
              <a:ext uri="{FF2B5EF4-FFF2-40B4-BE49-F238E27FC236}">
                <a16:creationId xmlns:a16="http://schemas.microsoft.com/office/drawing/2014/main" id="{CBD68EF9-5A5C-CE26-9C25-EA77569E92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12D10C-2E43-2C70-8E4E-C0EE3D94085D}"/>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3301979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E5B026-F1AD-DBEE-BB32-EEDC3A162D02}"/>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3" name="Footer Placeholder 2">
            <a:extLst>
              <a:ext uri="{FF2B5EF4-FFF2-40B4-BE49-F238E27FC236}">
                <a16:creationId xmlns:a16="http://schemas.microsoft.com/office/drawing/2014/main" id="{A41E692A-16F1-C3D7-970C-57E79F28D3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E1632D-BEA1-1095-A243-8374EB8C1363}"/>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20047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9C74-67E0-84EB-EFA9-05C28DA437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94061E-8F6D-C679-E3CC-37AA8724AA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4F2174-F7E7-4D9D-832A-E4782772C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C0691-DC25-9352-5BFF-A771D2111770}"/>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6" name="Footer Placeholder 5">
            <a:extLst>
              <a:ext uri="{FF2B5EF4-FFF2-40B4-BE49-F238E27FC236}">
                <a16:creationId xmlns:a16="http://schemas.microsoft.com/office/drawing/2014/main" id="{6A81D029-656B-7A30-7C3B-2B8604620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D7491-DCE5-966F-2A1D-D778576846C8}"/>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2214253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F34A4-82B7-3484-0CED-C4E4AA5CE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FCF392-6E6D-B675-F733-91A5B95AD9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F15325-4DEA-4466-66DD-103371B111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33505-51E2-FF2B-4847-1AC6F49B51AA}"/>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6" name="Footer Placeholder 5">
            <a:extLst>
              <a:ext uri="{FF2B5EF4-FFF2-40B4-BE49-F238E27FC236}">
                <a16:creationId xmlns:a16="http://schemas.microsoft.com/office/drawing/2014/main" id="{75D2CD08-246E-6FC5-1E1F-A5DF1A5345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EC8DF4-4F73-6B5A-F92D-34CADFA2FE0A}"/>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95470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84783-23AA-0B87-BDDA-851C2B310C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49361B-2AEE-4E5F-5909-932145748A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B2882B-9574-F4F7-D702-D87A2FBCDDC8}"/>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5" name="Footer Placeholder 4">
            <a:extLst>
              <a:ext uri="{FF2B5EF4-FFF2-40B4-BE49-F238E27FC236}">
                <a16:creationId xmlns:a16="http://schemas.microsoft.com/office/drawing/2014/main" id="{23F45BBE-1B2E-90DE-2AFF-CE40D19EF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4E1D9C-40FD-98BA-B5E8-7EDC10463DDB}"/>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3682758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8B98D8-F8DD-AA99-95C8-DCE62B0849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42ECEB-85ED-87DD-0BAA-91A8EDDD52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397F1-306A-1159-B354-FA6405A5B19C}"/>
              </a:ext>
            </a:extLst>
          </p:cNvPr>
          <p:cNvSpPr>
            <a:spLocks noGrp="1"/>
          </p:cNvSpPr>
          <p:nvPr>
            <p:ph type="dt" sz="half" idx="10"/>
          </p:nvPr>
        </p:nvSpPr>
        <p:spPr/>
        <p:txBody>
          <a:bodyPr/>
          <a:lstStyle/>
          <a:p>
            <a:fld id="{CC41D98C-7B84-4977-B0AC-256A45EBF9DA}" type="datetimeFigureOut">
              <a:rPr lang="en-US" smtClean="0"/>
              <a:t>9/17/2026</a:t>
            </a:fld>
            <a:endParaRPr lang="en-US"/>
          </a:p>
        </p:txBody>
      </p:sp>
      <p:sp>
        <p:nvSpPr>
          <p:cNvPr id="5" name="Footer Placeholder 4">
            <a:extLst>
              <a:ext uri="{FF2B5EF4-FFF2-40B4-BE49-F238E27FC236}">
                <a16:creationId xmlns:a16="http://schemas.microsoft.com/office/drawing/2014/main" id="{D5994B26-1A23-EB35-70FF-3859A251A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F96710-5938-8FD1-39C2-60C4C0D293A1}"/>
              </a:ext>
            </a:extLst>
          </p:cNvPr>
          <p:cNvSpPr>
            <a:spLocks noGrp="1"/>
          </p:cNvSpPr>
          <p:nvPr>
            <p:ph type="sldNum" sz="quarter" idx="12"/>
          </p:nvPr>
        </p:nvSpPr>
        <p:spPr/>
        <p:txBody>
          <a:bodyPr/>
          <a:lstStyle/>
          <a:p>
            <a:fld id="{629B1C96-826B-47E6-92D7-439B7D16D8FF}" type="slidenum">
              <a:rPr lang="en-US" smtClean="0"/>
              <a:t>‹#›</a:t>
            </a:fld>
            <a:endParaRPr lang="en-US"/>
          </a:p>
        </p:txBody>
      </p:sp>
    </p:spTree>
    <p:extLst>
      <p:ext uri="{BB962C8B-B14F-4D97-AF65-F5344CB8AC3E}">
        <p14:creationId xmlns:p14="http://schemas.microsoft.com/office/powerpoint/2010/main" val="3814133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286AC0-B905-D70C-8A19-09DDD9E76E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7217CE-2647-74D8-A77E-F6D704CD36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6D2EC0-CF01-D0B2-4B04-993AA2F18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41D98C-7B84-4977-B0AC-256A45EBF9DA}" type="datetimeFigureOut">
              <a:rPr lang="en-US" smtClean="0"/>
              <a:t>9/17/2026</a:t>
            </a:fld>
            <a:endParaRPr lang="en-US"/>
          </a:p>
        </p:txBody>
      </p:sp>
      <p:sp>
        <p:nvSpPr>
          <p:cNvPr id="5" name="Footer Placeholder 4">
            <a:extLst>
              <a:ext uri="{FF2B5EF4-FFF2-40B4-BE49-F238E27FC236}">
                <a16:creationId xmlns:a16="http://schemas.microsoft.com/office/drawing/2014/main" id="{AA0A6B3E-BB59-CE1B-5565-333DEB4DB3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DD700F-1F14-1411-140B-F4046F28D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9B1C96-826B-47E6-92D7-439B7D16D8FF}" type="slidenum">
              <a:rPr lang="en-US" smtClean="0"/>
              <a:t>‹#›</a:t>
            </a:fld>
            <a:endParaRPr lang="en-US"/>
          </a:p>
        </p:txBody>
      </p:sp>
    </p:spTree>
    <p:extLst>
      <p:ext uri="{BB962C8B-B14F-4D97-AF65-F5344CB8AC3E}">
        <p14:creationId xmlns:p14="http://schemas.microsoft.com/office/powerpoint/2010/main" val="3738486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7A6B14-4BA1-96E7-CBD5-586889F55FF5}"/>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0CBEBEC-8968-170B-C6A5-636EEFDB40EE}"/>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Reliable wallet APIs</a:t>
            </a:r>
          </a:p>
        </p:txBody>
      </p:sp>
      <p:sp>
        <p:nvSpPr>
          <p:cNvPr id="4" name="TextBox 3">
            <a:extLst>
              <a:ext uri="{FF2B5EF4-FFF2-40B4-BE49-F238E27FC236}">
                <a16:creationId xmlns:a16="http://schemas.microsoft.com/office/drawing/2014/main" id="{E0F85022-523F-F0D0-895E-F3C9DE129BA0}"/>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NovaWallet Ledger Service | Backend / API Developer (.NET) case study</a:t>
            </a:r>
          </a:p>
        </p:txBody>
      </p:sp>
      <p:sp>
        <p:nvSpPr>
          <p:cNvPr id="5" name="TextBox 4">
            <a:extLst>
              <a:ext uri="{FF2B5EF4-FFF2-40B4-BE49-F238E27FC236}">
                <a16:creationId xmlns:a16="http://schemas.microsoft.com/office/drawing/2014/main" id="{3948E6E2-7429-18E2-D392-5851541F9410}"/>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8D820BE9-EFBA-BC7D-775C-5D7E64EEA862}"/>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01</a:t>
            </a:r>
          </a:p>
        </p:txBody>
      </p:sp>
      <p:sp>
        <p:nvSpPr>
          <p:cNvPr id="7" name="TextBox 6">
            <a:extLst>
              <a:ext uri="{FF2B5EF4-FFF2-40B4-BE49-F238E27FC236}">
                <a16:creationId xmlns:a16="http://schemas.microsoft.com/office/drawing/2014/main" id="{AA3ACF0C-50DC-46E8-8426-6EAD55A8FDD9}"/>
              </a:ext>
            </a:extLst>
          </p:cNvPr>
          <p:cNvSpPr txBox="1"/>
          <p:nvPr/>
        </p:nvSpPr>
        <p:spPr>
          <a:xfrm>
            <a:off x="508000" y="2311400"/>
            <a:ext cx="10033000" cy="276999"/>
          </a:xfrm>
          <a:prstGeom prst="rect">
            <a:avLst/>
          </a:prstGeom>
          <a:noFill/>
        </p:spPr>
        <p:txBody>
          <a:bodyPr vert="horz" wrap="square" lIns="0" tIns="0" rIns="0" bIns="0" rtlCol="0">
            <a:noAutofit/>
          </a:bodyPr>
          <a:lstStyle/>
          <a:p>
            <a:pPr>
              <a:spcAft>
                <a:spcPts val="800"/>
              </a:spcAft>
            </a:pPr>
            <a:r>
              <a:rPr lang="en-US" sz="4300" b="1">
                <a:solidFill>
                  <a:srgbClr val="FFFFFF"/>
                </a:solidFill>
                <a:latin typeface="Aptos" panose="020B0004020202020204" pitchFamily="34" charset="0"/>
              </a:rPr>
              <a:t>Move money once.
Keep the evidence.</a:t>
            </a:r>
          </a:p>
        </p:txBody>
      </p:sp>
      <p:sp>
        <p:nvSpPr>
          <p:cNvPr id="8" name="Rectangle 7">
            <a:extLst>
              <a:ext uri="{FF2B5EF4-FFF2-40B4-BE49-F238E27FC236}">
                <a16:creationId xmlns:a16="http://schemas.microsoft.com/office/drawing/2014/main" id="{751DC771-0E25-32C5-07E7-69C5D21D8AFF}"/>
              </a:ext>
            </a:extLst>
          </p:cNvPr>
          <p:cNvSpPr/>
          <p:nvPr/>
        </p:nvSpPr>
        <p:spPr>
          <a:xfrm>
            <a:off x="508000" y="4216400"/>
            <a:ext cx="3429000" cy="1485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962AD37-D0C4-9F8B-37BA-40244AB8BAF3}"/>
              </a:ext>
            </a:extLst>
          </p:cNvPr>
          <p:cNvSpPr/>
          <p:nvPr/>
        </p:nvSpPr>
        <p:spPr>
          <a:xfrm>
            <a:off x="508000" y="4216400"/>
            <a:ext cx="50800" cy="1485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0582358-EBFE-391F-9014-CEA9FB6D4879}"/>
              </a:ext>
            </a:extLst>
          </p:cNvPr>
          <p:cNvSpPr txBox="1"/>
          <p:nvPr/>
        </p:nvSpPr>
        <p:spPr>
          <a:xfrm>
            <a:off x="736600" y="4419599"/>
            <a:ext cx="2971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CORRECTNESS</a:t>
            </a:r>
          </a:p>
        </p:txBody>
      </p:sp>
      <p:sp>
        <p:nvSpPr>
          <p:cNvPr id="11" name="TextBox 10">
            <a:extLst>
              <a:ext uri="{FF2B5EF4-FFF2-40B4-BE49-F238E27FC236}">
                <a16:creationId xmlns:a16="http://schemas.microsoft.com/office/drawing/2014/main" id="{DEACB3EE-D462-AE5C-833D-900B3A8633F5}"/>
              </a:ext>
            </a:extLst>
          </p:cNvPr>
          <p:cNvSpPr txBox="1"/>
          <p:nvPr/>
        </p:nvSpPr>
        <p:spPr>
          <a:xfrm>
            <a:off x="736600" y="4953000"/>
            <a:ext cx="2971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Atomic balances and limits</a:t>
            </a:r>
          </a:p>
        </p:txBody>
      </p:sp>
      <p:sp>
        <p:nvSpPr>
          <p:cNvPr id="12" name="Rectangle 11">
            <a:extLst>
              <a:ext uri="{FF2B5EF4-FFF2-40B4-BE49-F238E27FC236}">
                <a16:creationId xmlns:a16="http://schemas.microsoft.com/office/drawing/2014/main" id="{CCE7F8B2-7589-2421-AEA6-DD8478728565}"/>
              </a:ext>
            </a:extLst>
          </p:cNvPr>
          <p:cNvSpPr/>
          <p:nvPr/>
        </p:nvSpPr>
        <p:spPr>
          <a:xfrm>
            <a:off x="4191000" y="4216400"/>
            <a:ext cx="3429000" cy="1485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915996-902A-D033-C97B-442E1F8ACA1D}"/>
              </a:ext>
            </a:extLst>
          </p:cNvPr>
          <p:cNvSpPr/>
          <p:nvPr/>
        </p:nvSpPr>
        <p:spPr>
          <a:xfrm>
            <a:off x="4191000" y="4216400"/>
            <a:ext cx="50800" cy="1485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27D009D-2E96-56F4-1AE4-569651EB2F7E}"/>
              </a:ext>
            </a:extLst>
          </p:cNvPr>
          <p:cNvSpPr txBox="1"/>
          <p:nvPr/>
        </p:nvSpPr>
        <p:spPr>
          <a:xfrm>
            <a:off x="4419600" y="4419599"/>
            <a:ext cx="2971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RELIABILITY</a:t>
            </a:r>
          </a:p>
        </p:txBody>
      </p:sp>
      <p:sp>
        <p:nvSpPr>
          <p:cNvPr id="15" name="TextBox 14">
            <a:extLst>
              <a:ext uri="{FF2B5EF4-FFF2-40B4-BE49-F238E27FC236}">
                <a16:creationId xmlns:a16="http://schemas.microsoft.com/office/drawing/2014/main" id="{7DCBF7F7-6741-2A10-0929-CF9A980EA5CF}"/>
              </a:ext>
            </a:extLst>
          </p:cNvPr>
          <p:cNvSpPr txBox="1"/>
          <p:nvPr/>
        </p:nvSpPr>
        <p:spPr>
          <a:xfrm>
            <a:off x="4419600" y="4953000"/>
            <a:ext cx="2971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Durable idempotent outcomes</a:t>
            </a:r>
          </a:p>
        </p:txBody>
      </p:sp>
      <p:sp>
        <p:nvSpPr>
          <p:cNvPr id="16" name="Rectangle 15">
            <a:extLst>
              <a:ext uri="{FF2B5EF4-FFF2-40B4-BE49-F238E27FC236}">
                <a16:creationId xmlns:a16="http://schemas.microsoft.com/office/drawing/2014/main" id="{F7730F99-380A-3C4F-6DC0-0FF1096759B7}"/>
              </a:ext>
            </a:extLst>
          </p:cNvPr>
          <p:cNvSpPr/>
          <p:nvPr/>
        </p:nvSpPr>
        <p:spPr>
          <a:xfrm>
            <a:off x="7874000" y="4216400"/>
            <a:ext cx="3810000" cy="1485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97090AA-4CC8-8E9F-BD77-E5FC55FB8289}"/>
              </a:ext>
            </a:extLst>
          </p:cNvPr>
          <p:cNvSpPr/>
          <p:nvPr/>
        </p:nvSpPr>
        <p:spPr>
          <a:xfrm>
            <a:off x="7874000" y="4216400"/>
            <a:ext cx="50800" cy="1485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2163250-FCBB-99CD-A4A2-DC89F744DC23}"/>
              </a:ext>
            </a:extLst>
          </p:cNvPr>
          <p:cNvSpPr txBox="1"/>
          <p:nvPr/>
        </p:nvSpPr>
        <p:spPr>
          <a:xfrm>
            <a:off x="8102600" y="4419599"/>
            <a:ext cx="3352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ACCOUNTABILITY</a:t>
            </a:r>
          </a:p>
        </p:txBody>
      </p:sp>
      <p:sp>
        <p:nvSpPr>
          <p:cNvPr id="19" name="TextBox 18">
            <a:extLst>
              <a:ext uri="{FF2B5EF4-FFF2-40B4-BE49-F238E27FC236}">
                <a16:creationId xmlns:a16="http://schemas.microsoft.com/office/drawing/2014/main" id="{CDC8D758-6AA4-AF33-3552-111DB046905A}"/>
              </a:ext>
            </a:extLst>
          </p:cNvPr>
          <p:cNvSpPr txBox="1"/>
          <p:nvPr/>
        </p:nvSpPr>
        <p:spPr>
          <a:xfrm>
            <a:off x="8102600" y="4953000"/>
            <a:ext cx="3352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Separate append-only audit</a:t>
            </a:r>
          </a:p>
        </p:txBody>
      </p:sp>
      <p:sp>
        <p:nvSpPr>
          <p:cNvPr id="20" name="TextBox 19">
            <a:extLst>
              <a:ext uri="{FF2B5EF4-FFF2-40B4-BE49-F238E27FC236}">
                <a16:creationId xmlns:a16="http://schemas.microsoft.com/office/drawing/2014/main" id="{C9F9A1E1-BDAD-11C5-DA5A-EA153DF6F0B4}"/>
              </a:ext>
            </a:extLst>
          </p:cNvPr>
          <p:cNvSpPr txBox="1"/>
          <p:nvPr/>
        </p:nvSpPr>
        <p:spPr>
          <a:xfrm>
            <a:off x="508000" y="5930900"/>
            <a:ext cx="10795000" cy="276999"/>
          </a:xfrm>
          <a:prstGeom prst="rect">
            <a:avLst/>
          </a:prstGeom>
          <a:noFill/>
        </p:spPr>
        <p:txBody>
          <a:bodyPr vert="horz" wrap="square" lIns="0" tIns="0" rIns="0" bIns="0" rtlCol="0">
            <a:noAutofit/>
          </a:bodyPr>
          <a:lstStyle/>
          <a:p>
            <a:pPr>
              <a:spcAft>
                <a:spcPts val="800"/>
              </a:spcAft>
            </a:pPr>
            <a:r>
              <a:rPr lang="en-US" sz="1700">
                <a:solidFill>
                  <a:srgbClr val="BECDD9"/>
                </a:solidFill>
                <a:latin typeface="Aptos" panose="020B0004020202020204" pitchFamily="34" charset="0"/>
              </a:rPr>
              <a:t>Andrew Osabuede Gabriel  |  17 September 2026</a:t>
            </a:r>
          </a:p>
        </p:txBody>
      </p:sp>
    </p:spTree>
    <p:extLst>
      <p:ext uri="{BB962C8B-B14F-4D97-AF65-F5344CB8AC3E}">
        <p14:creationId xmlns:p14="http://schemas.microsoft.com/office/powerpoint/2010/main" val="241185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3BFE01-0F9E-9757-E422-CB4F0B8526C1}"/>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0F871AC-0A37-273C-E43F-885F1EF9DCE0}"/>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The brief becomes five invariants</a:t>
            </a:r>
          </a:p>
        </p:txBody>
      </p:sp>
      <p:sp>
        <p:nvSpPr>
          <p:cNvPr id="4" name="TextBox 3">
            <a:extLst>
              <a:ext uri="{FF2B5EF4-FFF2-40B4-BE49-F238E27FC236}">
                <a16:creationId xmlns:a16="http://schemas.microsoft.com/office/drawing/2014/main" id="{D1AB88E0-A5B8-E50A-19A7-C983AD38453C}"/>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Business rules drive the design, not the framework.</a:t>
            </a:r>
          </a:p>
        </p:txBody>
      </p:sp>
      <p:sp>
        <p:nvSpPr>
          <p:cNvPr id="5" name="TextBox 4">
            <a:extLst>
              <a:ext uri="{FF2B5EF4-FFF2-40B4-BE49-F238E27FC236}">
                <a16:creationId xmlns:a16="http://schemas.microsoft.com/office/drawing/2014/main" id="{9E699960-5ACA-B7CF-E40B-FB8D09D837DC}"/>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3E4D0E63-FBAF-3561-CF31-4485038B5A2C}"/>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02</a:t>
            </a:r>
          </a:p>
        </p:txBody>
      </p:sp>
      <p:sp>
        <p:nvSpPr>
          <p:cNvPr id="7" name="TextBox 6">
            <a:extLst>
              <a:ext uri="{FF2B5EF4-FFF2-40B4-BE49-F238E27FC236}">
                <a16:creationId xmlns:a16="http://schemas.microsoft.com/office/drawing/2014/main" id="{6EA84445-F060-D6EA-FF68-5C7ACA7A4208}"/>
              </a:ext>
            </a:extLst>
          </p:cNvPr>
          <p:cNvSpPr txBox="1"/>
          <p:nvPr/>
        </p:nvSpPr>
        <p:spPr>
          <a:xfrm>
            <a:off x="533400" y="2120900"/>
            <a:ext cx="609600" cy="276999"/>
          </a:xfrm>
          <a:prstGeom prst="rect">
            <a:avLst/>
          </a:prstGeom>
          <a:noFill/>
        </p:spPr>
        <p:txBody>
          <a:bodyPr vert="horz" wrap="square" lIns="0" tIns="0" rIns="0" bIns="0" rtlCol="0">
            <a:noAutofit/>
          </a:bodyPr>
          <a:lstStyle/>
          <a:p>
            <a:pPr>
              <a:spcAft>
                <a:spcPts val="800"/>
              </a:spcAft>
            </a:pPr>
            <a:r>
              <a:rPr lang="en-US" sz="2200" b="1">
                <a:solidFill>
                  <a:srgbClr val="E8BF39"/>
                </a:solidFill>
                <a:latin typeface="Aptos" panose="020B0004020202020204" pitchFamily="34" charset="0"/>
              </a:rPr>
              <a:t>01</a:t>
            </a:r>
          </a:p>
        </p:txBody>
      </p:sp>
      <p:sp>
        <p:nvSpPr>
          <p:cNvPr id="8" name="TextBox 7">
            <a:extLst>
              <a:ext uri="{FF2B5EF4-FFF2-40B4-BE49-F238E27FC236}">
                <a16:creationId xmlns:a16="http://schemas.microsoft.com/office/drawing/2014/main" id="{6C9A3440-0FD0-859C-2F0B-853C63947BEF}"/>
              </a:ext>
            </a:extLst>
          </p:cNvPr>
          <p:cNvSpPr txBox="1"/>
          <p:nvPr/>
        </p:nvSpPr>
        <p:spPr>
          <a:xfrm>
            <a:off x="1333500" y="2120900"/>
            <a:ext cx="2603500" cy="276999"/>
          </a:xfrm>
          <a:prstGeom prst="rect">
            <a:avLst/>
          </a:prstGeom>
          <a:noFill/>
        </p:spPr>
        <p:txBody>
          <a:bodyPr vert="horz" wrap="square" lIns="0" tIns="0" rIns="0" bIns="0" rtlCol="0">
            <a:noAutofit/>
          </a:bodyPr>
          <a:lstStyle/>
          <a:p>
            <a:pPr>
              <a:spcAft>
                <a:spcPts val="800"/>
              </a:spcAft>
            </a:pPr>
            <a:r>
              <a:rPr lang="en-US" sz="2100" b="1">
                <a:solidFill>
                  <a:srgbClr val="FFFFFF"/>
                </a:solidFill>
                <a:latin typeface="Aptos" panose="020B0004020202020204" pitchFamily="34" charset="0"/>
              </a:rPr>
              <a:t>Exact money</a:t>
            </a:r>
          </a:p>
        </p:txBody>
      </p:sp>
      <p:sp>
        <p:nvSpPr>
          <p:cNvPr id="9" name="TextBox 8">
            <a:extLst>
              <a:ext uri="{FF2B5EF4-FFF2-40B4-BE49-F238E27FC236}">
                <a16:creationId xmlns:a16="http://schemas.microsoft.com/office/drawing/2014/main" id="{C729D400-D6A0-B66B-B982-954AFDA75EC5}"/>
              </a:ext>
            </a:extLst>
          </p:cNvPr>
          <p:cNvSpPr txBox="1"/>
          <p:nvPr/>
        </p:nvSpPr>
        <p:spPr>
          <a:xfrm>
            <a:off x="4127500" y="2146300"/>
            <a:ext cx="7556500" cy="276999"/>
          </a:xfrm>
          <a:prstGeom prst="rect">
            <a:avLst/>
          </a:prstGeom>
          <a:noFill/>
        </p:spPr>
        <p:txBody>
          <a:bodyPr vert="horz" wrap="square" lIns="0" tIns="0" rIns="0" bIns="0" rtlCol="0">
            <a:noAutofit/>
          </a:bodyPr>
          <a:lstStyle/>
          <a:p>
            <a:pPr>
              <a:spcAft>
                <a:spcPts val="800"/>
              </a:spcAft>
            </a:pPr>
            <a:r>
              <a:rPr lang="en-US">
                <a:solidFill>
                  <a:srgbClr val="BECDD9"/>
                </a:solidFill>
                <a:latin typeface="Aptos" panose="020B0004020202020204" pitchFamily="34" charset="0"/>
              </a:rPr>
              <a:t>NGN only; long / bigint kobo; zero opening balance</a:t>
            </a:r>
          </a:p>
        </p:txBody>
      </p:sp>
      <p:sp>
        <p:nvSpPr>
          <p:cNvPr id="10" name="TextBox 9">
            <a:extLst>
              <a:ext uri="{FF2B5EF4-FFF2-40B4-BE49-F238E27FC236}">
                <a16:creationId xmlns:a16="http://schemas.microsoft.com/office/drawing/2014/main" id="{EA49894D-4544-2B98-1023-DF84CE808A6B}"/>
              </a:ext>
            </a:extLst>
          </p:cNvPr>
          <p:cNvSpPr txBox="1"/>
          <p:nvPr/>
        </p:nvSpPr>
        <p:spPr>
          <a:xfrm>
            <a:off x="533400" y="2895600"/>
            <a:ext cx="609600" cy="276999"/>
          </a:xfrm>
          <a:prstGeom prst="rect">
            <a:avLst/>
          </a:prstGeom>
          <a:noFill/>
        </p:spPr>
        <p:txBody>
          <a:bodyPr vert="horz" wrap="square" lIns="0" tIns="0" rIns="0" bIns="0" rtlCol="0">
            <a:noAutofit/>
          </a:bodyPr>
          <a:lstStyle/>
          <a:p>
            <a:pPr>
              <a:spcAft>
                <a:spcPts val="800"/>
              </a:spcAft>
            </a:pPr>
            <a:r>
              <a:rPr lang="en-US" sz="2200" b="1">
                <a:solidFill>
                  <a:srgbClr val="E8BF39"/>
                </a:solidFill>
                <a:latin typeface="Aptos" panose="020B0004020202020204" pitchFamily="34" charset="0"/>
              </a:rPr>
              <a:t>02</a:t>
            </a:r>
          </a:p>
        </p:txBody>
      </p:sp>
      <p:sp>
        <p:nvSpPr>
          <p:cNvPr id="11" name="TextBox 10">
            <a:extLst>
              <a:ext uri="{FF2B5EF4-FFF2-40B4-BE49-F238E27FC236}">
                <a16:creationId xmlns:a16="http://schemas.microsoft.com/office/drawing/2014/main" id="{563514A5-5246-159F-D17B-372CF1DEF43F}"/>
              </a:ext>
            </a:extLst>
          </p:cNvPr>
          <p:cNvSpPr txBox="1"/>
          <p:nvPr/>
        </p:nvSpPr>
        <p:spPr>
          <a:xfrm>
            <a:off x="1333500" y="2895600"/>
            <a:ext cx="2603500" cy="276999"/>
          </a:xfrm>
          <a:prstGeom prst="rect">
            <a:avLst/>
          </a:prstGeom>
          <a:noFill/>
        </p:spPr>
        <p:txBody>
          <a:bodyPr vert="horz" wrap="square" lIns="0" tIns="0" rIns="0" bIns="0" rtlCol="0">
            <a:noAutofit/>
          </a:bodyPr>
          <a:lstStyle/>
          <a:p>
            <a:pPr>
              <a:spcAft>
                <a:spcPts val="800"/>
              </a:spcAft>
            </a:pPr>
            <a:r>
              <a:rPr lang="en-US" sz="2100" b="1">
                <a:solidFill>
                  <a:srgbClr val="FFFFFF"/>
                </a:solidFill>
                <a:latin typeface="Aptos" panose="020B0004020202020204" pitchFamily="34" charset="0"/>
              </a:rPr>
              <a:t>Safe spending</a:t>
            </a:r>
          </a:p>
        </p:txBody>
      </p:sp>
      <p:sp>
        <p:nvSpPr>
          <p:cNvPr id="12" name="TextBox 11">
            <a:extLst>
              <a:ext uri="{FF2B5EF4-FFF2-40B4-BE49-F238E27FC236}">
                <a16:creationId xmlns:a16="http://schemas.microsoft.com/office/drawing/2014/main" id="{EAC06D04-0AE8-3E05-DD9B-14DC75BC1DDA}"/>
              </a:ext>
            </a:extLst>
          </p:cNvPr>
          <p:cNvSpPr txBox="1"/>
          <p:nvPr/>
        </p:nvSpPr>
        <p:spPr>
          <a:xfrm>
            <a:off x="4127500" y="2921000"/>
            <a:ext cx="7556500" cy="276999"/>
          </a:xfrm>
          <a:prstGeom prst="rect">
            <a:avLst/>
          </a:prstGeom>
          <a:noFill/>
        </p:spPr>
        <p:txBody>
          <a:bodyPr vert="horz" wrap="square" lIns="0" tIns="0" rIns="0" bIns="0" rtlCol="0">
            <a:noAutofit/>
          </a:bodyPr>
          <a:lstStyle/>
          <a:p>
            <a:pPr>
              <a:spcAft>
                <a:spcPts val="800"/>
              </a:spcAft>
            </a:pPr>
            <a:r>
              <a:rPr lang="en-US">
                <a:solidFill>
                  <a:srgbClr val="BECDD9"/>
                </a:solidFill>
                <a:latin typeface="Aptos" panose="020B0004020202020204" pitchFamily="34" charset="0"/>
              </a:rPr>
              <a:t>Atomic debit + credit; no negative balances</a:t>
            </a:r>
          </a:p>
        </p:txBody>
      </p:sp>
      <p:sp>
        <p:nvSpPr>
          <p:cNvPr id="13" name="TextBox 12">
            <a:extLst>
              <a:ext uri="{FF2B5EF4-FFF2-40B4-BE49-F238E27FC236}">
                <a16:creationId xmlns:a16="http://schemas.microsoft.com/office/drawing/2014/main" id="{8A359B28-55ED-0392-7D1B-B41825A3FB0F}"/>
              </a:ext>
            </a:extLst>
          </p:cNvPr>
          <p:cNvSpPr txBox="1"/>
          <p:nvPr/>
        </p:nvSpPr>
        <p:spPr>
          <a:xfrm>
            <a:off x="533400" y="3670300"/>
            <a:ext cx="609600" cy="276999"/>
          </a:xfrm>
          <a:prstGeom prst="rect">
            <a:avLst/>
          </a:prstGeom>
          <a:noFill/>
        </p:spPr>
        <p:txBody>
          <a:bodyPr vert="horz" wrap="square" lIns="0" tIns="0" rIns="0" bIns="0" rtlCol="0">
            <a:noAutofit/>
          </a:bodyPr>
          <a:lstStyle/>
          <a:p>
            <a:pPr>
              <a:spcAft>
                <a:spcPts val="800"/>
              </a:spcAft>
            </a:pPr>
            <a:r>
              <a:rPr lang="en-US" sz="2200" b="1">
                <a:solidFill>
                  <a:srgbClr val="E8BF39"/>
                </a:solidFill>
                <a:latin typeface="Aptos" panose="020B0004020202020204" pitchFamily="34" charset="0"/>
              </a:rPr>
              <a:t>03</a:t>
            </a:r>
          </a:p>
        </p:txBody>
      </p:sp>
      <p:sp>
        <p:nvSpPr>
          <p:cNvPr id="14" name="TextBox 13">
            <a:extLst>
              <a:ext uri="{FF2B5EF4-FFF2-40B4-BE49-F238E27FC236}">
                <a16:creationId xmlns:a16="http://schemas.microsoft.com/office/drawing/2014/main" id="{A135C67B-590A-7D5E-6FDA-E611BA00E19A}"/>
              </a:ext>
            </a:extLst>
          </p:cNvPr>
          <p:cNvSpPr txBox="1"/>
          <p:nvPr/>
        </p:nvSpPr>
        <p:spPr>
          <a:xfrm>
            <a:off x="1333500" y="3670300"/>
            <a:ext cx="2603500" cy="276999"/>
          </a:xfrm>
          <a:prstGeom prst="rect">
            <a:avLst/>
          </a:prstGeom>
          <a:noFill/>
        </p:spPr>
        <p:txBody>
          <a:bodyPr vert="horz" wrap="square" lIns="0" tIns="0" rIns="0" bIns="0" rtlCol="0">
            <a:noAutofit/>
          </a:bodyPr>
          <a:lstStyle/>
          <a:p>
            <a:pPr>
              <a:spcAft>
                <a:spcPts val="800"/>
              </a:spcAft>
            </a:pPr>
            <a:r>
              <a:rPr lang="en-US" sz="2100" b="1">
                <a:solidFill>
                  <a:srgbClr val="FFFFFF"/>
                </a:solidFill>
                <a:latin typeface="Aptos" panose="020B0004020202020204" pitchFamily="34" charset="0"/>
              </a:rPr>
              <a:t>Safe retries</a:t>
            </a:r>
          </a:p>
        </p:txBody>
      </p:sp>
      <p:sp>
        <p:nvSpPr>
          <p:cNvPr id="15" name="TextBox 14">
            <a:extLst>
              <a:ext uri="{FF2B5EF4-FFF2-40B4-BE49-F238E27FC236}">
                <a16:creationId xmlns:a16="http://schemas.microsoft.com/office/drawing/2014/main" id="{250599D2-8DEB-E57B-0999-4A7AB62D04E7}"/>
              </a:ext>
            </a:extLst>
          </p:cNvPr>
          <p:cNvSpPr txBox="1"/>
          <p:nvPr/>
        </p:nvSpPr>
        <p:spPr>
          <a:xfrm>
            <a:off x="4127500" y="3695700"/>
            <a:ext cx="7556500" cy="276999"/>
          </a:xfrm>
          <a:prstGeom prst="rect">
            <a:avLst/>
          </a:prstGeom>
          <a:noFill/>
        </p:spPr>
        <p:txBody>
          <a:bodyPr vert="horz" wrap="square" lIns="0" tIns="0" rIns="0" bIns="0" rtlCol="0">
            <a:noAutofit/>
          </a:bodyPr>
          <a:lstStyle/>
          <a:p>
            <a:pPr>
              <a:spcAft>
                <a:spcPts val="800"/>
              </a:spcAft>
            </a:pPr>
            <a:r>
              <a:rPr lang="en-US">
                <a:solidFill>
                  <a:srgbClr val="BECDD9"/>
                </a:solidFill>
                <a:latin typeface="Aptos" panose="020B0004020202020204" pitchFamily="34" charset="0"/>
              </a:rPr>
              <a:t>Same key + payload = stored response; changed payload = 409</a:t>
            </a:r>
          </a:p>
        </p:txBody>
      </p:sp>
      <p:sp>
        <p:nvSpPr>
          <p:cNvPr id="16" name="TextBox 15">
            <a:extLst>
              <a:ext uri="{FF2B5EF4-FFF2-40B4-BE49-F238E27FC236}">
                <a16:creationId xmlns:a16="http://schemas.microsoft.com/office/drawing/2014/main" id="{083EB0D7-CA1F-F941-A4C0-9ED2240BEBC5}"/>
              </a:ext>
            </a:extLst>
          </p:cNvPr>
          <p:cNvSpPr txBox="1"/>
          <p:nvPr/>
        </p:nvSpPr>
        <p:spPr>
          <a:xfrm>
            <a:off x="533400" y="4445000"/>
            <a:ext cx="609600" cy="276999"/>
          </a:xfrm>
          <a:prstGeom prst="rect">
            <a:avLst/>
          </a:prstGeom>
          <a:noFill/>
        </p:spPr>
        <p:txBody>
          <a:bodyPr vert="horz" wrap="square" lIns="0" tIns="0" rIns="0" bIns="0" rtlCol="0">
            <a:noAutofit/>
          </a:bodyPr>
          <a:lstStyle/>
          <a:p>
            <a:pPr>
              <a:spcAft>
                <a:spcPts val="800"/>
              </a:spcAft>
            </a:pPr>
            <a:r>
              <a:rPr lang="en-US" sz="2200" b="1">
                <a:solidFill>
                  <a:srgbClr val="E8BF39"/>
                </a:solidFill>
                <a:latin typeface="Aptos" panose="020B0004020202020204" pitchFamily="34" charset="0"/>
              </a:rPr>
              <a:t>04</a:t>
            </a:r>
          </a:p>
        </p:txBody>
      </p:sp>
      <p:sp>
        <p:nvSpPr>
          <p:cNvPr id="17" name="TextBox 16">
            <a:extLst>
              <a:ext uri="{FF2B5EF4-FFF2-40B4-BE49-F238E27FC236}">
                <a16:creationId xmlns:a16="http://schemas.microsoft.com/office/drawing/2014/main" id="{9FE1EF47-C19F-1D53-1556-D6C8B5448F13}"/>
              </a:ext>
            </a:extLst>
          </p:cNvPr>
          <p:cNvSpPr txBox="1"/>
          <p:nvPr/>
        </p:nvSpPr>
        <p:spPr>
          <a:xfrm>
            <a:off x="1333500" y="4445000"/>
            <a:ext cx="2603500" cy="276999"/>
          </a:xfrm>
          <a:prstGeom prst="rect">
            <a:avLst/>
          </a:prstGeom>
          <a:noFill/>
        </p:spPr>
        <p:txBody>
          <a:bodyPr vert="horz" wrap="square" lIns="0" tIns="0" rIns="0" bIns="0" rtlCol="0">
            <a:noAutofit/>
          </a:bodyPr>
          <a:lstStyle/>
          <a:p>
            <a:pPr>
              <a:spcAft>
                <a:spcPts val="800"/>
              </a:spcAft>
            </a:pPr>
            <a:r>
              <a:rPr lang="en-US" sz="2100" b="1">
                <a:solidFill>
                  <a:srgbClr val="FFFFFF"/>
                </a:solidFill>
                <a:latin typeface="Aptos" panose="020B0004020202020204" pitchFamily="34" charset="0"/>
              </a:rPr>
              <a:t>Daily control</a:t>
            </a:r>
          </a:p>
        </p:txBody>
      </p:sp>
      <p:sp>
        <p:nvSpPr>
          <p:cNvPr id="18" name="TextBox 17">
            <a:extLst>
              <a:ext uri="{FF2B5EF4-FFF2-40B4-BE49-F238E27FC236}">
                <a16:creationId xmlns:a16="http://schemas.microsoft.com/office/drawing/2014/main" id="{F3BA0DD3-BAF7-EF24-EE82-56F314448FFB}"/>
              </a:ext>
            </a:extLst>
          </p:cNvPr>
          <p:cNvSpPr txBox="1"/>
          <p:nvPr/>
        </p:nvSpPr>
        <p:spPr>
          <a:xfrm>
            <a:off x="4127500" y="4470400"/>
            <a:ext cx="7556500" cy="276999"/>
          </a:xfrm>
          <a:prstGeom prst="rect">
            <a:avLst/>
          </a:prstGeom>
          <a:noFill/>
        </p:spPr>
        <p:txBody>
          <a:bodyPr vert="horz" wrap="square" lIns="0" tIns="0" rIns="0" bIns="0" rtlCol="0">
            <a:noAutofit/>
          </a:bodyPr>
          <a:lstStyle/>
          <a:p>
            <a:pPr>
              <a:spcAft>
                <a:spcPts val="800"/>
              </a:spcAft>
            </a:pPr>
            <a:r>
              <a:rPr lang="en-US">
                <a:solidFill>
                  <a:srgbClr val="BECDD9"/>
                </a:solidFill>
                <a:latin typeface="Aptos" panose="020B0004020202020204" pitchFamily="34" charset="0"/>
              </a:rPr>
              <a:t>Outbound cap: NGN 500,000; reset at midnight WAT</a:t>
            </a:r>
          </a:p>
        </p:txBody>
      </p:sp>
      <p:sp>
        <p:nvSpPr>
          <p:cNvPr id="19" name="TextBox 18">
            <a:extLst>
              <a:ext uri="{FF2B5EF4-FFF2-40B4-BE49-F238E27FC236}">
                <a16:creationId xmlns:a16="http://schemas.microsoft.com/office/drawing/2014/main" id="{79170702-ED2A-7F88-27E9-AA9E07B8D85E}"/>
              </a:ext>
            </a:extLst>
          </p:cNvPr>
          <p:cNvSpPr txBox="1"/>
          <p:nvPr/>
        </p:nvSpPr>
        <p:spPr>
          <a:xfrm>
            <a:off x="533400" y="5219700"/>
            <a:ext cx="609600" cy="276999"/>
          </a:xfrm>
          <a:prstGeom prst="rect">
            <a:avLst/>
          </a:prstGeom>
          <a:noFill/>
        </p:spPr>
        <p:txBody>
          <a:bodyPr vert="horz" wrap="square" lIns="0" tIns="0" rIns="0" bIns="0" rtlCol="0">
            <a:noAutofit/>
          </a:bodyPr>
          <a:lstStyle/>
          <a:p>
            <a:pPr>
              <a:spcAft>
                <a:spcPts val="800"/>
              </a:spcAft>
            </a:pPr>
            <a:r>
              <a:rPr lang="en-US" sz="2200" b="1">
                <a:solidFill>
                  <a:srgbClr val="E8BF39"/>
                </a:solidFill>
                <a:latin typeface="Aptos" panose="020B0004020202020204" pitchFamily="34" charset="0"/>
              </a:rPr>
              <a:t>05</a:t>
            </a:r>
          </a:p>
        </p:txBody>
      </p:sp>
      <p:sp>
        <p:nvSpPr>
          <p:cNvPr id="20" name="TextBox 19">
            <a:extLst>
              <a:ext uri="{FF2B5EF4-FFF2-40B4-BE49-F238E27FC236}">
                <a16:creationId xmlns:a16="http://schemas.microsoft.com/office/drawing/2014/main" id="{7BBA4AEF-7832-EB95-F42A-4B28E2545F3F}"/>
              </a:ext>
            </a:extLst>
          </p:cNvPr>
          <p:cNvSpPr txBox="1"/>
          <p:nvPr/>
        </p:nvSpPr>
        <p:spPr>
          <a:xfrm>
            <a:off x="1333500" y="5219700"/>
            <a:ext cx="2603500" cy="276999"/>
          </a:xfrm>
          <a:prstGeom prst="rect">
            <a:avLst/>
          </a:prstGeom>
          <a:noFill/>
        </p:spPr>
        <p:txBody>
          <a:bodyPr vert="horz" wrap="square" lIns="0" tIns="0" rIns="0" bIns="0" rtlCol="0">
            <a:noAutofit/>
          </a:bodyPr>
          <a:lstStyle/>
          <a:p>
            <a:pPr>
              <a:spcAft>
                <a:spcPts val="800"/>
              </a:spcAft>
            </a:pPr>
            <a:r>
              <a:rPr lang="en-US" sz="2100" b="1">
                <a:solidFill>
                  <a:srgbClr val="FFFFFF"/>
                </a:solidFill>
                <a:latin typeface="Aptos" panose="020B0004020202020204" pitchFamily="34" charset="0"/>
              </a:rPr>
              <a:t>Durable evidence</a:t>
            </a:r>
          </a:p>
        </p:txBody>
      </p:sp>
      <p:sp>
        <p:nvSpPr>
          <p:cNvPr id="21" name="TextBox 20">
            <a:extLst>
              <a:ext uri="{FF2B5EF4-FFF2-40B4-BE49-F238E27FC236}">
                <a16:creationId xmlns:a16="http://schemas.microsoft.com/office/drawing/2014/main" id="{2624A30E-0EC9-7569-B85E-B2AFCD8C09AD}"/>
              </a:ext>
            </a:extLst>
          </p:cNvPr>
          <p:cNvSpPr txBox="1"/>
          <p:nvPr/>
        </p:nvSpPr>
        <p:spPr>
          <a:xfrm>
            <a:off x="4127500" y="5245100"/>
            <a:ext cx="7556500" cy="276999"/>
          </a:xfrm>
          <a:prstGeom prst="rect">
            <a:avLst/>
          </a:prstGeom>
          <a:noFill/>
        </p:spPr>
        <p:txBody>
          <a:bodyPr vert="horz" wrap="square" lIns="0" tIns="0" rIns="0" bIns="0" rtlCol="0">
            <a:noAutofit/>
          </a:bodyPr>
          <a:lstStyle/>
          <a:p>
            <a:pPr>
              <a:spcAft>
                <a:spcPts val="800"/>
              </a:spcAft>
            </a:pPr>
            <a:r>
              <a:rPr lang="en-US">
                <a:solidFill>
                  <a:srgbClr val="BECDD9"/>
                </a:solidFill>
                <a:latin typeface="Aptos" panose="020B0004020202020204" pitchFamily="34" charset="0"/>
              </a:rPr>
              <a:t>Financial history and audit commit with the movement</a:t>
            </a:r>
          </a:p>
        </p:txBody>
      </p:sp>
    </p:spTree>
    <p:extLst>
      <p:ext uri="{BB962C8B-B14F-4D97-AF65-F5344CB8AC3E}">
        <p14:creationId xmlns:p14="http://schemas.microsoft.com/office/powerpoint/2010/main" val="107351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A9D403-AE13-6A65-B796-EB8409DE01A3}"/>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911D5F-39B2-D4C6-D590-715837962907}"/>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One application. Clear feature boundaries.</a:t>
            </a:r>
          </a:p>
        </p:txBody>
      </p:sp>
      <p:sp>
        <p:nvSpPr>
          <p:cNvPr id="4" name="TextBox 3">
            <a:extLst>
              <a:ext uri="{FF2B5EF4-FFF2-40B4-BE49-F238E27FC236}">
                <a16:creationId xmlns:a16="http://schemas.microsoft.com/office/drawing/2014/main" id="{5B548F52-879C-7750-28A9-0941CA566624}"/>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Controller-based Vertical Slice Architecture | .NET 9 + EF Core 9 + SQL Server 2022</a:t>
            </a:r>
          </a:p>
        </p:txBody>
      </p:sp>
      <p:sp>
        <p:nvSpPr>
          <p:cNvPr id="5" name="TextBox 4">
            <a:extLst>
              <a:ext uri="{FF2B5EF4-FFF2-40B4-BE49-F238E27FC236}">
                <a16:creationId xmlns:a16="http://schemas.microsoft.com/office/drawing/2014/main" id="{7C41712B-114F-4ABC-3D83-E5E1CF64B16C}"/>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B075CD2A-5A0D-26AC-C1AE-28E8AEDF4251}"/>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03</a:t>
            </a:r>
          </a:p>
        </p:txBody>
      </p:sp>
      <p:sp>
        <p:nvSpPr>
          <p:cNvPr id="7" name="Rectangle 6">
            <a:extLst>
              <a:ext uri="{FF2B5EF4-FFF2-40B4-BE49-F238E27FC236}">
                <a16:creationId xmlns:a16="http://schemas.microsoft.com/office/drawing/2014/main" id="{DCB29306-6578-911B-1091-0AF0945AF60E}"/>
              </a:ext>
            </a:extLst>
          </p:cNvPr>
          <p:cNvSpPr/>
          <p:nvPr/>
        </p:nvSpPr>
        <p:spPr>
          <a:xfrm>
            <a:off x="508000" y="2209800"/>
            <a:ext cx="2413000" cy="17272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6886E45-F2E8-98E9-27AE-DE34FFD70F76}"/>
              </a:ext>
            </a:extLst>
          </p:cNvPr>
          <p:cNvSpPr/>
          <p:nvPr/>
        </p:nvSpPr>
        <p:spPr>
          <a:xfrm>
            <a:off x="508000" y="2209800"/>
            <a:ext cx="50800" cy="17272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B85C88A-DF73-F338-3A97-E5BD7B6AAD25}"/>
              </a:ext>
            </a:extLst>
          </p:cNvPr>
          <p:cNvSpPr txBox="1"/>
          <p:nvPr/>
        </p:nvSpPr>
        <p:spPr>
          <a:xfrm>
            <a:off x="736600" y="2412999"/>
            <a:ext cx="1955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HTTP + JWT</a:t>
            </a:r>
          </a:p>
        </p:txBody>
      </p:sp>
      <p:sp>
        <p:nvSpPr>
          <p:cNvPr id="10" name="TextBox 9">
            <a:extLst>
              <a:ext uri="{FF2B5EF4-FFF2-40B4-BE49-F238E27FC236}">
                <a16:creationId xmlns:a16="http://schemas.microsoft.com/office/drawing/2014/main" id="{4F24369C-D48F-627F-3C4D-0A303FDA9EBD}"/>
              </a:ext>
            </a:extLst>
          </p:cNvPr>
          <p:cNvSpPr txBox="1"/>
          <p:nvPr/>
        </p:nvSpPr>
        <p:spPr>
          <a:xfrm>
            <a:off x="736600" y="2946400"/>
            <a:ext cx="1955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Controllers
Policies + validation</a:t>
            </a:r>
          </a:p>
        </p:txBody>
      </p:sp>
      <p:sp>
        <p:nvSpPr>
          <p:cNvPr id="11" name="Rectangle 10">
            <a:extLst>
              <a:ext uri="{FF2B5EF4-FFF2-40B4-BE49-F238E27FC236}">
                <a16:creationId xmlns:a16="http://schemas.microsoft.com/office/drawing/2014/main" id="{245FC237-8039-A488-7F23-09D3A538C5CB}"/>
              </a:ext>
            </a:extLst>
          </p:cNvPr>
          <p:cNvSpPr/>
          <p:nvPr/>
        </p:nvSpPr>
        <p:spPr>
          <a:xfrm>
            <a:off x="3556000" y="2209800"/>
            <a:ext cx="3048000" cy="17272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AC8E9C-D142-337B-C26F-575DF22BF09E}"/>
              </a:ext>
            </a:extLst>
          </p:cNvPr>
          <p:cNvSpPr/>
          <p:nvPr/>
        </p:nvSpPr>
        <p:spPr>
          <a:xfrm>
            <a:off x="3556000" y="2209800"/>
            <a:ext cx="50800" cy="17272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556F059-D53A-917F-D07B-20E91FEEC23D}"/>
              </a:ext>
            </a:extLst>
          </p:cNvPr>
          <p:cNvSpPr txBox="1"/>
          <p:nvPr/>
        </p:nvSpPr>
        <p:spPr>
          <a:xfrm>
            <a:off x="3784600" y="2412999"/>
            <a:ext cx="2590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FEATURE HANDLERS</a:t>
            </a:r>
          </a:p>
        </p:txBody>
      </p:sp>
      <p:sp>
        <p:nvSpPr>
          <p:cNvPr id="14" name="TextBox 13">
            <a:extLst>
              <a:ext uri="{FF2B5EF4-FFF2-40B4-BE49-F238E27FC236}">
                <a16:creationId xmlns:a16="http://schemas.microsoft.com/office/drawing/2014/main" id="{B11DE5BA-F1DC-3D57-E805-FCACCB4F62EA}"/>
              </a:ext>
            </a:extLst>
          </p:cNvPr>
          <p:cNvSpPr txBox="1"/>
          <p:nvPr/>
        </p:nvSpPr>
        <p:spPr>
          <a:xfrm>
            <a:off x="3784600" y="2946400"/>
            <a:ext cx="2590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Wallets / Transfers
Statements / Audit</a:t>
            </a:r>
          </a:p>
        </p:txBody>
      </p:sp>
      <p:sp>
        <p:nvSpPr>
          <p:cNvPr id="15" name="Rectangle 14">
            <a:extLst>
              <a:ext uri="{FF2B5EF4-FFF2-40B4-BE49-F238E27FC236}">
                <a16:creationId xmlns:a16="http://schemas.microsoft.com/office/drawing/2014/main" id="{4168D9F4-CCD1-95E5-6CA9-D30CDEB2E02C}"/>
              </a:ext>
            </a:extLst>
          </p:cNvPr>
          <p:cNvSpPr/>
          <p:nvPr/>
        </p:nvSpPr>
        <p:spPr>
          <a:xfrm>
            <a:off x="7239000" y="2209800"/>
            <a:ext cx="2032000" cy="17272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1FE0AFA-D07F-A0DB-B2BC-D61AD19ABA59}"/>
              </a:ext>
            </a:extLst>
          </p:cNvPr>
          <p:cNvSpPr/>
          <p:nvPr/>
        </p:nvSpPr>
        <p:spPr>
          <a:xfrm>
            <a:off x="7239000" y="2209800"/>
            <a:ext cx="50800" cy="17272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11ACFA5-6D66-24FF-38A5-FE07CBC32CB0}"/>
              </a:ext>
            </a:extLst>
          </p:cNvPr>
          <p:cNvSpPr txBox="1"/>
          <p:nvPr/>
        </p:nvSpPr>
        <p:spPr>
          <a:xfrm>
            <a:off x="7467600" y="2412999"/>
            <a:ext cx="1574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DOMAIN</a:t>
            </a:r>
          </a:p>
        </p:txBody>
      </p:sp>
      <p:sp>
        <p:nvSpPr>
          <p:cNvPr id="18" name="TextBox 17">
            <a:extLst>
              <a:ext uri="{FF2B5EF4-FFF2-40B4-BE49-F238E27FC236}">
                <a16:creationId xmlns:a16="http://schemas.microsoft.com/office/drawing/2014/main" id="{16600454-7FA3-11F3-6665-B06174CEC3F0}"/>
              </a:ext>
            </a:extLst>
          </p:cNvPr>
          <p:cNvSpPr txBox="1"/>
          <p:nvPr/>
        </p:nvSpPr>
        <p:spPr>
          <a:xfrm>
            <a:off x="7467600" y="2946400"/>
            <a:ext cx="1574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Money rules
Wallet state</a:t>
            </a:r>
          </a:p>
        </p:txBody>
      </p:sp>
      <p:cxnSp>
        <p:nvCxnSpPr>
          <p:cNvPr id="19" name="Straight Connector 18">
            <a:extLst>
              <a:ext uri="{FF2B5EF4-FFF2-40B4-BE49-F238E27FC236}">
                <a16:creationId xmlns:a16="http://schemas.microsoft.com/office/drawing/2014/main" id="{2141D319-BE8E-3B5C-448F-C57D5E03C746}"/>
              </a:ext>
            </a:extLst>
          </p:cNvPr>
          <p:cNvCxnSpPr/>
          <p:nvPr/>
        </p:nvCxnSpPr>
        <p:spPr>
          <a:xfrm>
            <a:off x="2933700" y="3073400"/>
            <a:ext cx="5842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EF33F69-AD8E-AF34-AA84-5A11B1FF3BA4}"/>
              </a:ext>
            </a:extLst>
          </p:cNvPr>
          <p:cNvCxnSpPr/>
          <p:nvPr/>
        </p:nvCxnSpPr>
        <p:spPr>
          <a:xfrm>
            <a:off x="6629400" y="3073400"/>
            <a:ext cx="5715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6941C18-D221-0468-4865-D04F481CA12C}"/>
              </a:ext>
            </a:extLst>
          </p:cNvPr>
          <p:cNvSpPr/>
          <p:nvPr/>
        </p:nvSpPr>
        <p:spPr>
          <a:xfrm>
            <a:off x="3556000" y="4533900"/>
            <a:ext cx="5715000" cy="13843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925F70F-E395-A26A-B916-D47AFB1311F5}"/>
              </a:ext>
            </a:extLst>
          </p:cNvPr>
          <p:cNvSpPr/>
          <p:nvPr/>
        </p:nvSpPr>
        <p:spPr>
          <a:xfrm>
            <a:off x="3556000" y="4533900"/>
            <a:ext cx="50800" cy="13843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BD4AAD7-6DA0-11DC-FD94-207350DDBC6F}"/>
              </a:ext>
            </a:extLst>
          </p:cNvPr>
          <p:cNvSpPr txBox="1"/>
          <p:nvPr/>
        </p:nvSpPr>
        <p:spPr>
          <a:xfrm>
            <a:off x="3784600" y="4737099"/>
            <a:ext cx="5257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SHARED FINANCIAL INFRASTRUCTURE</a:t>
            </a:r>
          </a:p>
        </p:txBody>
      </p:sp>
      <p:sp>
        <p:nvSpPr>
          <p:cNvPr id="24" name="TextBox 23">
            <a:extLst>
              <a:ext uri="{FF2B5EF4-FFF2-40B4-BE49-F238E27FC236}">
                <a16:creationId xmlns:a16="http://schemas.microsoft.com/office/drawing/2014/main" id="{68C48CD6-2392-E975-4104-940D63CBBA9E}"/>
              </a:ext>
            </a:extLst>
          </p:cNvPr>
          <p:cNvSpPr txBox="1"/>
          <p:nvPr/>
        </p:nvSpPr>
        <p:spPr>
          <a:xfrm>
            <a:off x="3784600" y="5270500"/>
            <a:ext cx="5257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Transaction + idempotency + evidence + WAT clock</a:t>
            </a:r>
          </a:p>
        </p:txBody>
      </p:sp>
      <p:cxnSp>
        <p:nvCxnSpPr>
          <p:cNvPr id="25" name="Straight Connector 24">
            <a:extLst>
              <a:ext uri="{FF2B5EF4-FFF2-40B4-BE49-F238E27FC236}">
                <a16:creationId xmlns:a16="http://schemas.microsoft.com/office/drawing/2014/main" id="{DE508DD8-7181-73A3-3FC9-299F20DF8621}"/>
              </a:ext>
            </a:extLst>
          </p:cNvPr>
          <p:cNvCxnSpPr/>
          <p:nvPr/>
        </p:nvCxnSpPr>
        <p:spPr>
          <a:xfrm>
            <a:off x="5080000" y="3962400"/>
            <a:ext cx="0" cy="50800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2EB068A-9825-D2CB-2F74-EEA82CC9E07A}"/>
              </a:ext>
            </a:extLst>
          </p:cNvPr>
          <p:cNvSpPr/>
          <p:nvPr/>
        </p:nvSpPr>
        <p:spPr>
          <a:xfrm>
            <a:off x="9842500" y="4533900"/>
            <a:ext cx="1841500" cy="13843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65475A9-5E5D-B729-33B0-2EFB01F7A86E}"/>
              </a:ext>
            </a:extLst>
          </p:cNvPr>
          <p:cNvSpPr/>
          <p:nvPr/>
        </p:nvSpPr>
        <p:spPr>
          <a:xfrm>
            <a:off x="9842500" y="4533900"/>
            <a:ext cx="50800" cy="13843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6FEF253-5F3E-34D9-B198-49E110F4DA87}"/>
              </a:ext>
            </a:extLst>
          </p:cNvPr>
          <p:cNvSpPr txBox="1"/>
          <p:nvPr/>
        </p:nvSpPr>
        <p:spPr>
          <a:xfrm>
            <a:off x="10071100" y="4737099"/>
            <a:ext cx="13843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SQL</a:t>
            </a:r>
          </a:p>
        </p:txBody>
      </p:sp>
      <p:sp>
        <p:nvSpPr>
          <p:cNvPr id="31" name="TextBox 30">
            <a:extLst>
              <a:ext uri="{FF2B5EF4-FFF2-40B4-BE49-F238E27FC236}">
                <a16:creationId xmlns:a16="http://schemas.microsoft.com/office/drawing/2014/main" id="{03190A26-BB82-7E64-B48D-782FE1C7E54C}"/>
              </a:ext>
            </a:extLst>
          </p:cNvPr>
          <p:cNvSpPr txBox="1"/>
          <p:nvPr/>
        </p:nvSpPr>
        <p:spPr>
          <a:xfrm>
            <a:off x="10071100" y="5270500"/>
            <a:ext cx="1384300" cy="276999"/>
          </a:xfrm>
          <a:prstGeom prst="rect">
            <a:avLst/>
          </a:prstGeom>
          <a:noFill/>
        </p:spPr>
        <p:txBody>
          <a:bodyPr vert="horz" wrap="square" lIns="0" tIns="0" rIns="0" bIns="0" rtlCol="0">
            <a:noAutofit/>
          </a:bodyPr>
          <a:lstStyle/>
          <a:p>
            <a:pPr>
              <a:spcAft>
                <a:spcPts val="800"/>
              </a:spcAft>
            </a:pPr>
            <a:r>
              <a:rPr lang="en-US" sz="1600">
                <a:solidFill>
                  <a:srgbClr val="FFFFFF"/>
                </a:solidFill>
                <a:latin typeface="Aptos" panose="020B0004020202020204" pitchFamily="34" charset="0"/>
              </a:rPr>
              <a:t>Locks + checks</a:t>
            </a:r>
          </a:p>
        </p:txBody>
      </p:sp>
      <p:cxnSp>
        <p:nvCxnSpPr>
          <p:cNvPr id="32" name="Straight Connector 31">
            <a:extLst>
              <a:ext uri="{FF2B5EF4-FFF2-40B4-BE49-F238E27FC236}">
                <a16:creationId xmlns:a16="http://schemas.microsoft.com/office/drawing/2014/main" id="{0F41896B-8803-278E-EFAB-F154768CFAEA}"/>
              </a:ext>
            </a:extLst>
          </p:cNvPr>
          <p:cNvCxnSpPr/>
          <p:nvPr/>
        </p:nvCxnSpPr>
        <p:spPr>
          <a:xfrm>
            <a:off x="9309100" y="5232400"/>
            <a:ext cx="4699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AB668C2-D8DD-9831-CDC2-F9C39AE30BAF}"/>
              </a:ext>
            </a:extLst>
          </p:cNvPr>
          <p:cNvSpPr txBox="1"/>
          <p:nvPr/>
        </p:nvSpPr>
        <p:spPr>
          <a:xfrm>
            <a:off x="546100" y="4648200"/>
            <a:ext cx="2578100" cy="276999"/>
          </a:xfrm>
          <a:prstGeom prst="rect">
            <a:avLst/>
          </a:prstGeom>
          <a:noFill/>
        </p:spPr>
        <p:txBody>
          <a:bodyPr vert="horz" wrap="square" lIns="0" tIns="0" rIns="0" bIns="0" rtlCol="0">
            <a:noAutofit/>
          </a:bodyPr>
          <a:lstStyle/>
          <a:p>
            <a:pPr>
              <a:spcAft>
                <a:spcPts val="800"/>
              </a:spcAft>
            </a:pPr>
            <a:r>
              <a:rPr lang="en-US" sz="1700">
                <a:solidFill>
                  <a:srgbClr val="BECDD9"/>
                </a:solidFill>
                <a:latin typeface="Aptos" panose="020B0004020202020204" pitchFamily="34" charset="0"/>
              </a:rPr>
              <a:t>One deployable unit
No mediator or broker</a:t>
            </a:r>
          </a:p>
        </p:txBody>
      </p:sp>
    </p:spTree>
    <p:extLst>
      <p:ext uri="{BB962C8B-B14F-4D97-AF65-F5344CB8AC3E}">
        <p14:creationId xmlns:p14="http://schemas.microsoft.com/office/powerpoint/2010/main" val="2216158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168DB-3AEC-316C-C58F-8BB2755543CA}"/>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3184A22-D064-03F5-A52B-EDBD77A42769}"/>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A small model with strong database rules</a:t>
            </a:r>
          </a:p>
        </p:txBody>
      </p:sp>
      <p:sp>
        <p:nvSpPr>
          <p:cNvPr id="4" name="TextBox 3">
            <a:extLst>
              <a:ext uri="{FF2B5EF4-FFF2-40B4-BE49-F238E27FC236}">
                <a16:creationId xmlns:a16="http://schemas.microsoft.com/office/drawing/2014/main" id="{1DA5B23D-789F-5102-CE73-A7991501A6F6}"/>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Operational balance + immutable movement evidence; not a full general ledger.</a:t>
            </a:r>
          </a:p>
        </p:txBody>
      </p:sp>
      <p:sp>
        <p:nvSpPr>
          <p:cNvPr id="5" name="TextBox 4">
            <a:extLst>
              <a:ext uri="{FF2B5EF4-FFF2-40B4-BE49-F238E27FC236}">
                <a16:creationId xmlns:a16="http://schemas.microsoft.com/office/drawing/2014/main" id="{E5E6E239-88F6-F35A-9437-79252F9EB70E}"/>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657CFE5B-1FB6-263C-60A8-2EB87D8A82D3}"/>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04</a:t>
            </a:r>
          </a:p>
        </p:txBody>
      </p:sp>
      <p:sp>
        <p:nvSpPr>
          <p:cNvPr id="7" name="Rectangle 6">
            <a:extLst>
              <a:ext uri="{FF2B5EF4-FFF2-40B4-BE49-F238E27FC236}">
                <a16:creationId xmlns:a16="http://schemas.microsoft.com/office/drawing/2014/main" id="{19E1B60F-4585-BB49-9422-3D0ABC4CA33F}"/>
              </a:ext>
            </a:extLst>
          </p:cNvPr>
          <p:cNvSpPr/>
          <p:nvPr/>
        </p:nvSpPr>
        <p:spPr>
          <a:xfrm>
            <a:off x="508000" y="2146300"/>
            <a:ext cx="3467100" cy="1803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0C20153-9F4B-AFC8-F482-B5715DA490AB}"/>
              </a:ext>
            </a:extLst>
          </p:cNvPr>
          <p:cNvSpPr/>
          <p:nvPr/>
        </p:nvSpPr>
        <p:spPr>
          <a:xfrm>
            <a:off x="508000" y="2146300"/>
            <a:ext cx="50800" cy="1803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E4E1D9D-6422-F311-DA5A-81F4C8AC02C0}"/>
              </a:ext>
            </a:extLst>
          </p:cNvPr>
          <p:cNvSpPr txBox="1"/>
          <p:nvPr/>
        </p:nvSpPr>
        <p:spPr>
          <a:xfrm>
            <a:off x="736600" y="2349499"/>
            <a:ext cx="30099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Wallet</a:t>
            </a:r>
          </a:p>
        </p:txBody>
      </p:sp>
      <p:sp>
        <p:nvSpPr>
          <p:cNvPr id="13" name="TextBox 12">
            <a:extLst>
              <a:ext uri="{FF2B5EF4-FFF2-40B4-BE49-F238E27FC236}">
                <a16:creationId xmlns:a16="http://schemas.microsoft.com/office/drawing/2014/main" id="{ABC1BB56-B3A1-4161-14A6-A15545B07F44}"/>
              </a:ext>
            </a:extLst>
          </p:cNvPr>
          <p:cNvSpPr txBox="1"/>
          <p:nvPr/>
        </p:nvSpPr>
        <p:spPr>
          <a:xfrm>
            <a:off x="736600" y="2882900"/>
            <a:ext cx="3009900" cy="276999"/>
          </a:xfrm>
          <a:prstGeom prst="rect">
            <a:avLst/>
          </a:prstGeom>
          <a:noFill/>
        </p:spPr>
        <p:txBody>
          <a:bodyPr vert="horz" wrap="square" lIns="0" tIns="0" rIns="0" bIns="0" rtlCol="0">
            <a:noAutofit/>
          </a:bodyPr>
          <a:lstStyle/>
          <a:p>
            <a:pPr>
              <a:spcAft>
                <a:spcPts val="800"/>
              </a:spcAft>
            </a:pPr>
            <a:r>
              <a:rPr lang="en-US" sz="1500">
                <a:solidFill>
                  <a:srgbClr val="FFFFFF"/>
                </a:solidFill>
                <a:latin typeface="Aptos" panose="020B0004020202020204" pitchFamily="34" charset="0"/>
              </a:rPr>
              <a:t>CustomerId UNIQUE
BalanceKobo bigint &gt;= 0
Currency = NGN</a:t>
            </a:r>
          </a:p>
        </p:txBody>
      </p:sp>
      <p:sp>
        <p:nvSpPr>
          <p:cNvPr id="14" name="Rectangle 13">
            <a:extLst>
              <a:ext uri="{FF2B5EF4-FFF2-40B4-BE49-F238E27FC236}">
                <a16:creationId xmlns:a16="http://schemas.microsoft.com/office/drawing/2014/main" id="{10ED9B81-6CF1-33F8-3607-C97EAB6F38E2}"/>
              </a:ext>
            </a:extLst>
          </p:cNvPr>
          <p:cNvSpPr/>
          <p:nvPr/>
        </p:nvSpPr>
        <p:spPr>
          <a:xfrm>
            <a:off x="4368800" y="2146300"/>
            <a:ext cx="3467100" cy="1803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E961C5-F6A2-07C5-64DF-80DA1B3CB4D4}"/>
              </a:ext>
            </a:extLst>
          </p:cNvPr>
          <p:cNvSpPr/>
          <p:nvPr/>
        </p:nvSpPr>
        <p:spPr>
          <a:xfrm>
            <a:off x="4368800" y="2146300"/>
            <a:ext cx="50800" cy="1803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2CD3938-34F0-C563-888D-1DD1A5F62987}"/>
              </a:ext>
            </a:extLst>
          </p:cNvPr>
          <p:cNvSpPr txBox="1"/>
          <p:nvPr/>
        </p:nvSpPr>
        <p:spPr>
          <a:xfrm>
            <a:off x="4597400" y="2349499"/>
            <a:ext cx="30099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Transfer</a:t>
            </a:r>
          </a:p>
        </p:txBody>
      </p:sp>
      <p:sp>
        <p:nvSpPr>
          <p:cNvPr id="20" name="TextBox 19">
            <a:extLst>
              <a:ext uri="{FF2B5EF4-FFF2-40B4-BE49-F238E27FC236}">
                <a16:creationId xmlns:a16="http://schemas.microsoft.com/office/drawing/2014/main" id="{E07C6520-ED59-5E9C-D13D-50A577112503}"/>
              </a:ext>
            </a:extLst>
          </p:cNvPr>
          <p:cNvSpPr txBox="1"/>
          <p:nvPr/>
        </p:nvSpPr>
        <p:spPr>
          <a:xfrm>
            <a:off x="4597400" y="2882900"/>
            <a:ext cx="3009900" cy="276999"/>
          </a:xfrm>
          <a:prstGeom prst="rect">
            <a:avLst/>
          </a:prstGeom>
          <a:noFill/>
        </p:spPr>
        <p:txBody>
          <a:bodyPr vert="horz" wrap="square" lIns="0" tIns="0" rIns="0" bIns="0" rtlCol="0">
            <a:noAutofit/>
          </a:bodyPr>
          <a:lstStyle/>
          <a:p>
            <a:pPr>
              <a:spcAft>
                <a:spcPts val="800"/>
              </a:spcAft>
            </a:pPr>
            <a:r>
              <a:rPr lang="en-US" sz="1500">
                <a:solidFill>
                  <a:srgbClr val="FFFFFF"/>
                </a:solidFill>
                <a:latin typeface="Aptos" panose="020B0004020202020204" pitchFamily="34" charset="0"/>
              </a:rPr>
              <a:t>Source + destination
AmountKobo &gt; 0
CompletedAtUtc</a:t>
            </a:r>
          </a:p>
        </p:txBody>
      </p:sp>
      <p:sp>
        <p:nvSpPr>
          <p:cNvPr id="21" name="Rectangle 20">
            <a:extLst>
              <a:ext uri="{FF2B5EF4-FFF2-40B4-BE49-F238E27FC236}">
                <a16:creationId xmlns:a16="http://schemas.microsoft.com/office/drawing/2014/main" id="{1DDA86EF-1E2A-9F27-7CE7-613F1601D988}"/>
              </a:ext>
            </a:extLst>
          </p:cNvPr>
          <p:cNvSpPr/>
          <p:nvPr/>
        </p:nvSpPr>
        <p:spPr>
          <a:xfrm>
            <a:off x="8229600" y="2146300"/>
            <a:ext cx="3467100" cy="1803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A24B433-0755-BB88-2404-710F6AA99F17}"/>
              </a:ext>
            </a:extLst>
          </p:cNvPr>
          <p:cNvSpPr/>
          <p:nvPr/>
        </p:nvSpPr>
        <p:spPr>
          <a:xfrm>
            <a:off x="8229600" y="2146300"/>
            <a:ext cx="50800" cy="1803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24B9C37-1DDB-772E-E897-12E82330C074}"/>
              </a:ext>
            </a:extLst>
          </p:cNvPr>
          <p:cNvSpPr txBox="1"/>
          <p:nvPr/>
        </p:nvSpPr>
        <p:spPr>
          <a:xfrm>
            <a:off x="8458200" y="2349499"/>
            <a:ext cx="30099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IdempotencyRecord</a:t>
            </a:r>
          </a:p>
        </p:txBody>
      </p:sp>
      <p:sp>
        <p:nvSpPr>
          <p:cNvPr id="27" name="TextBox 26">
            <a:extLst>
              <a:ext uri="{FF2B5EF4-FFF2-40B4-BE49-F238E27FC236}">
                <a16:creationId xmlns:a16="http://schemas.microsoft.com/office/drawing/2014/main" id="{5C78C356-064E-5994-FFC8-341FE6510761}"/>
              </a:ext>
            </a:extLst>
          </p:cNvPr>
          <p:cNvSpPr txBox="1"/>
          <p:nvPr/>
        </p:nvSpPr>
        <p:spPr>
          <a:xfrm>
            <a:off x="8458200" y="2882900"/>
            <a:ext cx="3009900" cy="276999"/>
          </a:xfrm>
          <a:prstGeom prst="rect">
            <a:avLst/>
          </a:prstGeom>
          <a:noFill/>
        </p:spPr>
        <p:txBody>
          <a:bodyPr vert="horz" wrap="square" lIns="0" tIns="0" rIns="0" bIns="0" rtlCol="0">
            <a:noAutofit/>
          </a:bodyPr>
          <a:lstStyle/>
          <a:p>
            <a:pPr>
              <a:spcAft>
                <a:spcPts val="800"/>
              </a:spcAft>
            </a:pPr>
            <a:r>
              <a:rPr lang="en-US" sz="1500">
                <a:solidFill>
                  <a:srgbClr val="FFFFFF"/>
                </a:solidFill>
                <a:latin typeface="Aptos" panose="020B0004020202020204" pitchFamily="34" charset="0"/>
              </a:rPr>
              <a:t>Scope + key UNIQUE
Request hash
Stored HTTP outcome</a:t>
            </a:r>
          </a:p>
        </p:txBody>
      </p:sp>
      <p:sp>
        <p:nvSpPr>
          <p:cNvPr id="28" name="Rectangle 27">
            <a:extLst>
              <a:ext uri="{FF2B5EF4-FFF2-40B4-BE49-F238E27FC236}">
                <a16:creationId xmlns:a16="http://schemas.microsoft.com/office/drawing/2014/main" id="{8A8FA672-8C0A-691B-F80B-095A507B76A8}"/>
              </a:ext>
            </a:extLst>
          </p:cNvPr>
          <p:cNvSpPr/>
          <p:nvPr/>
        </p:nvSpPr>
        <p:spPr>
          <a:xfrm>
            <a:off x="2413000" y="4572000"/>
            <a:ext cx="3467100" cy="1485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658F563-C4DC-2D62-5A82-729A72DF1A54}"/>
              </a:ext>
            </a:extLst>
          </p:cNvPr>
          <p:cNvSpPr/>
          <p:nvPr/>
        </p:nvSpPr>
        <p:spPr>
          <a:xfrm>
            <a:off x="2413000" y="4572000"/>
            <a:ext cx="50800" cy="1485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0D4E7BB-A3DD-AD81-CCD0-D04CB86B959B}"/>
              </a:ext>
            </a:extLst>
          </p:cNvPr>
          <p:cNvSpPr txBox="1"/>
          <p:nvPr/>
        </p:nvSpPr>
        <p:spPr>
          <a:xfrm>
            <a:off x="2641600" y="4775199"/>
            <a:ext cx="30099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WalletTransaction</a:t>
            </a:r>
          </a:p>
        </p:txBody>
      </p:sp>
      <p:sp>
        <p:nvSpPr>
          <p:cNvPr id="33" name="TextBox 32">
            <a:extLst>
              <a:ext uri="{FF2B5EF4-FFF2-40B4-BE49-F238E27FC236}">
                <a16:creationId xmlns:a16="http://schemas.microsoft.com/office/drawing/2014/main" id="{D7A456EC-5993-DDAB-F837-8A99BC0C235E}"/>
              </a:ext>
            </a:extLst>
          </p:cNvPr>
          <p:cNvSpPr txBox="1"/>
          <p:nvPr/>
        </p:nvSpPr>
        <p:spPr>
          <a:xfrm>
            <a:off x="2641600" y="5308600"/>
            <a:ext cx="3009900" cy="276999"/>
          </a:xfrm>
          <a:prstGeom prst="rect">
            <a:avLst/>
          </a:prstGeom>
          <a:noFill/>
        </p:spPr>
        <p:txBody>
          <a:bodyPr vert="horz" wrap="square" lIns="0" tIns="0" rIns="0" bIns="0" rtlCol="0">
            <a:noAutofit/>
          </a:bodyPr>
          <a:lstStyle/>
          <a:p>
            <a:pPr>
              <a:spcAft>
                <a:spcPts val="800"/>
              </a:spcAft>
            </a:pPr>
            <a:r>
              <a:rPr lang="en-US" sz="1600">
                <a:solidFill>
                  <a:srgbClr val="FFFFFF"/>
                </a:solidFill>
                <a:latin typeface="Aptos" panose="020B0004020202020204" pitchFamily="34" charset="0"/>
              </a:rPr>
              <a:t>Operation + before/after
Newest-first statement</a:t>
            </a:r>
          </a:p>
        </p:txBody>
      </p:sp>
      <p:sp>
        <p:nvSpPr>
          <p:cNvPr id="34" name="Rectangle 33">
            <a:extLst>
              <a:ext uri="{FF2B5EF4-FFF2-40B4-BE49-F238E27FC236}">
                <a16:creationId xmlns:a16="http://schemas.microsoft.com/office/drawing/2014/main" id="{D03CCC43-9AD2-FAFC-68CF-843877DA87CC}"/>
              </a:ext>
            </a:extLst>
          </p:cNvPr>
          <p:cNvSpPr/>
          <p:nvPr/>
        </p:nvSpPr>
        <p:spPr>
          <a:xfrm>
            <a:off x="6477000" y="4572000"/>
            <a:ext cx="3467100" cy="1485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72C99FF-215E-259A-5C30-786DD28E96EA}"/>
              </a:ext>
            </a:extLst>
          </p:cNvPr>
          <p:cNvSpPr/>
          <p:nvPr/>
        </p:nvSpPr>
        <p:spPr>
          <a:xfrm>
            <a:off x="6477000" y="4572000"/>
            <a:ext cx="50800" cy="1485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5C5C6D04-3F38-B8C2-D6D8-694040C703F0}"/>
              </a:ext>
            </a:extLst>
          </p:cNvPr>
          <p:cNvSpPr txBox="1"/>
          <p:nvPr/>
        </p:nvSpPr>
        <p:spPr>
          <a:xfrm>
            <a:off x="6705600" y="4775199"/>
            <a:ext cx="30099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AuditEntry</a:t>
            </a:r>
          </a:p>
        </p:txBody>
      </p:sp>
      <p:sp>
        <p:nvSpPr>
          <p:cNvPr id="39" name="TextBox 38">
            <a:extLst>
              <a:ext uri="{FF2B5EF4-FFF2-40B4-BE49-F238E27FC236}">
                <a16:creationId xmlns:a16="http://schemas.microsoft.com/office/drawing/2014/main" id="{23B543D0-EF51-44BB-A0E0-DB54A2279154}"/>
              </a:ext>
            </a:extLst>
          </p:cNvPr>
          <p:cNvSpPr txBox="1"/>
          <p:nvPr/>
        </p:nvSpPr>
        <p:spPr>
          <a:xfrm>
            <a:off x="6705600" y="5308600"/>
            <a:ext cx="3009900" cy="276999"/>
          </a:xfrm>
          <a:prstGeom prst="rect">
            <a:avLst/>
          </a:prstGeom>
          <a:noFill/>
        </p:spPr>
        <p:txBody>
          <a:bodyPr vert="horz" wrap="square" lIns="0" tIns="0" rIns="0" bIns="0" rtlCol="0">
            <a:noAutofit/>
          </a:bodyPr>
          <a:lstStyle/>
          <a:p>
            <a:pPr>
              <a:spcAft>
                <a:spcPts val="800"/>
              </a:spcAft>
            </a:pPr>
            <a:r>
              <a:rPr lang="en-US" sz="1600">
                <a:solidFill>
                  <a:srgbClr val="FFFFFF"/>
                </a:solidFill>
                <a:latin typeface="Aptos" panose="020B0004020202020204" pitchFamily="34" charset="0"/>
              </a:rPr>
              <a:t>Actor + trace + operation
Append-only evidence</a:t>
            </a:r>
          </a:p>
        </p:txBody>
      </p:sp>
      <p:sp>
        <p:nvSpPr>
          <p:cNvPr id="40" name="TextBox 39">
            <a:extLst>
              <a:ext uri="{FF2B5EF4-FFF2-40B4-BE49-F238E27FC236}">
                <a16:creationId xmlns:a16="http://schemas.microsoft.com/office/drawing/2014/main" id="{4B1C783A-07B5-7228-9C3D-86515D1A68E3}"/>
              </a:ext>
            </a:extLst>
          </p:cNvPr>
          <p:cNvSpPr txBox="1"/>
          <p:nvPr/>
        </p:nvSpPr>
        <p:spPr>
          <a:xfrm>
            <a:off x="508000" y="4114800"/>
            <a:ext cx="11176000" cy="276999"/>
          </a:xfrm>
          <a:prstGeom prst="rect">
            <a:avLst/>
          </a:prstGeom>
          <a:noFill/>
        </p:spPr>
        <p:txBody>
          <a:bodyPr vert="horz" wrap="square" lIns="0" tIns="0" rIns="0" bIns="0" rtlCol="0">
            <a:noAutofit/>
          </a:bodyPr>
          <a:lstStyle/>
          <a:p>
            <a:pPr>
              <a:spcAft>
                <a:spcPts val="800"/>
              </a:spcAft>
            </a:pPr>
            <a:r>
              <a:rPr lang="en-US" sz="1600">
                <a:solidFill>
                  <a:srgbClr val="E8BF39"/>
                </a:solidFill>
                <a:latin typeface="Aptos" panose="020B0004020202020204" pitchFamily="34" charset="0"/>
              </a:rPr>
              <a:t>One successful transfer: 1 transfer record + 2 history entries + 2 audit entries</a:t>
            </a:r>
          </a:p>
        </p:txBody>
      </p:sp>
    </p:spTree>
    <p:extLst>
      <p:ext uri="{BB962C8B-B14F-4D97-AF65-F5344CB8AC3E}">
        <p14:creationId xmlns:p14="http://schemas.microsoft.com/office/powerpoint/2010/main" val="37085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7BE343-5E28-9E5B-28B7-4FA744747CE0}"/>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89CA20-B3F0-64E7-C2DD-268D13F6EEF3}"/>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The transfer is one indivisible SQL transaction</a:t>
            </a:r>
          </a:p>
        </p:txBody>
      </p:sp>
      <p:sp>
        <p:nvSpPr>
          <p:cNvPr id="4" name="TextBox 3">
            <a:extLst>
              <a:ext uri="{FF2B5EF4-FFF2-40B4-BE49-F238E27FC236}">
                <a16:creationId xmlns:a16="http://schemas.microsoft.com/office/drawing/2014/main" id="{B25772F6-AB34-0949-8C54-4B3E478AE260}"/>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READ COMMITTED + explicit transaction-owned locks; never a process-local mutex.</a:t>
            </a:r>
          </a:p>
        </p:txBody>
      </p:sp>
      <p:sp>
        <p:nvSpPr>
          <p:cNvPr id="5" name="TextBox 4">
            <a:extLst>
              <a:ext uri="{FF2B5EF4-FFF2-40B4-BE49-F238E27FC236}">
                <a16:creationId xmlns:a16="http://schemas.microsoft.com/office/drawing/2014/main" id="{EA3953C8-BEDE-20A7-63E7-A21B46FC947E}"/>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31827A90-6524-A858-F9B9-D74ABE3DEACC}"/>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05</a:t>
            </a:r>
          </a:p>
        </p:txBody>
      </p:sp>
      <p:sp>
        <p:nvSpPr>
          <p:cNvPr id="7" name="Rectangle 6">
            <a:extLst>
              <a:ext uri="{FF2B5EF4-FFF2-40B4-BE49-F238E27FC236}">
                <a16:creationId xmlns:a16="http://schemas.microsoft.com/office/drawing/2014/main" id="{F6C8307A-89C2-6007-142B-9566753ECE9D}"/>
              </a:ext>
            </a:extLst>
          </p:cNvPr>
          <p:cNvSpPr/>
          <p:nvPr/>
        </p:nvSpPr>
        <p:spPr>
          <a:xfrm>
            <a:off x="508000" y="2514600"/>
            <a:ext cx="2082800" cy="2184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30A3B9-8F1C-EF24-B419-71A514BFCE98}"/>
              </a:ext>
            </a:extLst>
          </p:cNvPr>
          <p:cNvSpPr/>
          <p:nvPr/>
        </p:nvSpPr>
        <p:spPr>
          <a:xfrm>
            <a:off x="508000" y="2514600"/>
            <a:ext cx="50800" cy="2184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8DF63B7-2586-A071-D182-6A8F26333755}"/>
              </a:ext>
            </a:extLst>
          </p:cNvPr>
          <p:cNvSpPr txBox="1"/>
          <p:nvPr/>
        </p:nvSpPr>
        <p:spPr>
          <a:xfrm>
            <a:off x="736600" y="2717799"/>
            <a:ext cx="1625600" cy="6350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1  Lock scoped key</a:t>
            </a:r>
          </a:p>
        </p:txBody>
      </p:sp>
      <p:sp>
        <p:nvSpPr>
          <p:cNvPr id="10" name="TextBox 9">
            <a:extLst>
              <a:ext uri="{FF2B5EF4-FFF2-40B4-BE49-F238E27FC236}">
                <a16:creationId xmlns:a16="http://schemas.microsoft.com/office/drawing/2014/main" id="{62A20566-D610-ADD6-2FA1-D65D536D7B18}"/>
              </a:ext>
            </a:extLst>
          </p:cNvPr>
          <p:cNvSpPr txBox="1"/>
          <p:nvPr/>
        </p:nvSpPr>
        <p:spPr>
          <a:xfrm>
            <a:off x="736600" y="3505200"/>
            <a:ext cx="16256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SQL sp_getapplock</a:t>
            </a:r>
          </a:p>
        </p:txBody>
      </p:sp>
      <p:cxnSp>
        <p:nvCxnSpPr>
          <p:cNvPr id="11" name="Straight Connector 10">
            <a:extLst>
              <a:ext uri="{FF2B5EF4-FFF2-40B4-BE49-F238E27FC236}">
                <a16:creationId xmlns:a16="http://schemas.microsoft.com/office/drawing/2014/main" id="{41A32D88-2556-119B-31A0-884D2D7D7BF7}"/>
              </a:ext>
            </a:extLst>
          </p:cNvPr>
          <p:cNvCxnSpPr/>
          <p:nvPr/>
        </p:nvCxnSpPr>
        <p:spPr>
          <a:xfrm>
            <a:off x="2628900" y="3581400"/>
            <a:ext cx="1270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A190D12-62C8-EDC3-F41B-0E884B6F6559}"/>
              </a:ext>
            </a:extLst>
          </p:cNvPr>
          <p:cNvSpPr/>
          <p:nvPr/>
        </p:nvSpPr>
        <p:spPr>
          <a:xfrm>
            <a:off x="2781300" y="2514600"/>
            <a:ext cx="2082800" cy="2184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39FFE6-55BD-8278-949C-80F6E3600F0C}"/>
              </a:ext>
            </a:extLst>
          </p:cNvPr>
          <p:cNvSpPr/>
          <p:nvPr/>
        </p:nvSpPr>
        <p:spPr>
          <a:xfrm>
            <a:off x="2781300" y="2514600"/>
            <a:ext cx="50800" cy="2184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C12E655-F46A-898E-8060-7ED9DF4026C1}"/>
              </a:ext>
            </a:extLst>
          </p:cNvPr>
          <p:cNvSpPr txBox="1"/>
          <p:nvPr/>
        </p:nvSpPr>
        <p:spPr>
          <a:xfrm>
            <a:off x="3009900" y="2717799"/>
            <a:ext cx="1625600" cy="6350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2  Lock both wallets</a:t>
            </a:r>
          </a:p>
        </p:txBody>
      </p:sp>
      <p:sp>
        <p:nvSpPr>
          <p:cNvPr id="15" name="TextBox 14">
            <a:extLst>
              <a:ext uri="{FF2B5EF4-FFF2-40B4-BE49-F238E27FC236}">
                <a16:creationId xmlns:a16="http://schemas.microsoft.com/office/drawing/2014/main" id="{D18AA3AD-06BD-875E-14D0-EF2707A60768}"/>
              </a:ext>
            </a:extLst>
          </p:cNvPr>
          <p:cNvSpPr txBox="1"/>
          <p:nvPr/>
        </p:nvSpPr>
        <p:spPr>
          <a:xfrm>
            <a:off x="3009900" y="3505200"/>
            <a:ext cx="16256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Sequential, stable order</a:t>
            </a:r>
          </a:p>
        </p:txBody>
      </p:sp>
      <p:cxnSp>
        <p:nvCxnSpPr>
          <p:cNvPr id="16" name="Straight Connector 15">
            <a:extLst>
              <a:ext uri="{FF2B5EF4-FFF2-40B4-BE49-F238E27FC236}">
                <a16:creationId xmlns:a16="http://schemas.microsoft.com/office/drawing/2014/main" id="{6C5C0AE5-1C90-F574-B553-4F2E0448A2E6}"/>
              </a:ext>
            </a:extLst>
          </p:cNvPr>
          <p:cNvCxnSpPr/>
          <p:nvPr/>
        </p:nvCxnSpPr>
        <p:spPr>
          <a:xfrm>
            <a:off x="4902200" y="3581400"/>
            <a:ext cx="1270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98C1691-866D-9745-8066-3021E0DC319E}"/>
              </a:ext>
            </a:extLst>
          </p:cNvPr>
          <p:cNvSpPr/>
          <p:nvPr/>
        </p:nvSpPr>
        <p:spPr>
          <a:xfrm>
            <a:off x="5054600" y="2514600"/>
            <a:ext cx="2082800" cy="2184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1D1EB2-B112-8964-9683-E18EA1F2A30F}"/>
              </a:ext>
            </a:extLst>
          </p:cNvPr>
          <p:cNvSpPr/>
          <p:nvPr/>
        </p:nvSpPr>
        <p:spPr>
          <a:xfrm>
            <a:off x="5054600" y="2514600"/>
            <a:ext cx="50800" cy="2184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CF2F2F3-766B-DDC5-2814-E908BCCAF622}"/>
              </a:ext>
            </a:extLst>
          </p:cNvPr>
          <p:cNvSpPr txBox="1"/>
          <p:nvPr/>
        </p:nvSpPr>
        <p:spPr>
          <a:xfrm>
            <a:off x="5283200" y="2717799"/>
            <a:ext cx="1625600" cy="6350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3  Check all rules</a:t>
            </a:r>
          </a:p>
        </p:txBody>
      </p:sp>
      <p:sp>
        <p:nvSpPr>
          <p:cNvPr id="20" name="TextBox 19">
            <a:extLst>
              <a:ext uri="{FF2B5EF4-FFF2-40B4-BE49-F238E27FC236}">
                <a16:creationId xmlns:a16="http://schemas.microsoft.com/office/drawing/2014/main" id="{E41CA669-16AE-F7FB-E7F2-04FB3262C997}"/>
              </a:ext>
            </a:extLst>
          </p:cNvPr>
          <p:cNvSpPr txBox="1"/>
          <p:nvPr/>
        </p:nvSpPr>
        <p:spPr>
          <a:xfrm>
            <a:off x="5283200" y="3505200"/>
            <a:ext cx="16256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Owner / funds / overflow / cap</a:t>
            </a:r>
          </a:p>
        </p:txBody>
      </p:sp>
      <p:cxnSp>
        <p:nvCxnSpPr>
          <p:cNvPr id="21" name="Straight Connector 20">
            <a:extLst>
              <a:ext uri="{FF2B5EF4-FFF2-40B4-BE49-F238E27FC236}">
                <a16:creationId xmlns:a16="http://schemas.microsoft.com/office/drawing/2014/main" id="{24A953A6-9D45-2F68-1264-B12EB3E54E23}"/>
              </a:ext>
            </a:extLst>
          </p:cNvPr>
          <p:cNvCxnSpPr/>
          <p:nvPr/>
        </p:nvCxnSpPr>
        <p:spPr>
          <a:xfrm>
            <a:off x="7175500" y="3581400"/>
            <a:ext cx="1270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A31BE2C-EE15-71FF-B2E5-64137FAF9918}"/>
              </a:ext>
            </a:extLst>
          </p:cNvPr>
          <p:cNvSpPr/>
          <p:nvPr/>
        </p:nvSpPr>
        <p:spPr>
          <a:xfrm>
            <a:off x="7327900" y="2514600"/>
            <a:ext cx="2082800" cy="2184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C691073-F0B1-61DF-6127-FEE6663E4D4E}"/>
              </a:ext>
            </a:extLst>
          </p:cNvPr>
          <p:cNvSpPr/>
          <p:nvPr/>
        </p:nvSpPr>
        <p:spPr>
          <a:xfrm>
            <a:off x="7327900" y="2514600"/>
            <a:ext cx="50800" cy="2184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DE0778D-C17A-02EF-96A6-4D3B76ACF227}"/>
              </a:ext>
            </a:extLst>
          </p:cNvPr>
          <p:cNvSpPr txBox="1"/>
          <p:nvPr/>
        </p:nvSpPr>
        <p:spPr>
          <a:xfrm>
            <a:off x="7556500" y="2717799"/>
            <a:ext cx="1625600" cy="6350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4  Stage all evidence</a:t>
            </a:r>
          </a:p>
        </p:txBody>
      </p:sp>
      <p:sp>
        <p:nvSpPr>
          <p:cNvPr id="25" name="TextBox 24">
            <a:extLst>
              <a:ext uri="{FF2B5EF4-FFF2-40B4-BE49-F238E27FC236}">
                <a16:creationId xmlns:a16="http://schemas.microsoft.com/office/drawing/2014/main" id="{9659F90C-7D35-D311-94A1-2A7525170168}"/>
              </a:ext>
            </a:extLst>
          </p:cNvPr>
          <p:cNvSpPr txBox="1"/>
          <p:nvPr/>
        </p:nvSpPr>
        <p:spPr>
          <a:xfrm>
            <a:off x="7556500" y="3505200"/>
            <a:ext cx="16256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Balances + history + audit</a:t>
            </a:r>
          </a:p>
        </p:txBody>
      </p:sp>
      <p:cxnSp>
        <p:nvCxnSpPr>
          <p:cNvPr id="26" name="Straight Connector 25">
            <a:extLst>
              <a:ext uri="{FF2B5EF4-FFF2-40B4-BE49-F238E27FC236}">
                <a16:creationId xmlns:a16="http://schemas.microsoft.com/office/drawing/2014/main" id="{DBE80E0C-7B72-F8C7-E774-31932DA8521E}"/>
              </a:ext>
            </a:extLst>
          </p:cNvPr>
          <p:cNvCxnSpPr/>
          <p:nvPr/>
        </p:nvCxnSpPr>
        <p:spPr>
          <a:xfrm>
            <a:off x="9448800" y="3581400"/>
            <a:ext cx="1270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460ED3C-0405-58E2-6938-601A345063C5}"/>
              </a:ext>
            </a:extLst>
          </p:cNvPr>
          <p:cNvSpPr/>
          <p:nvPr/>
        </p:nvSpPr>
        <p:spPr>
          <a:xfrm>
            <a:off x="9601200" y="2514600"/>
            <a:ext cx="2082800" cy="2184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C712FD7-1290-F3E3-954F-8A538A40F41D}"/>
              </a:ext>
            </a:extLst>
          </p:cNvPr>
          <p:cNvSpPr/>
          <p:nvPr/>
        </p:nvSpPr>
        <p:spPr>
          <a:xfrm>
            <a:off x="9601200" y="2514600"/>
            <a:ext cx="50800" cy="2184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3FC92F3-EB0F-0494-B151-066E0D9B4B4E}"/>
              </a:ext>
            </a:extLst>
          </p:cNvPr>
          <p:cNvSpPr txBox="1"/>
          <p:nvPr/>
        </p:nvSpPr>
        <p:spPr>
          <a:xfrm>
            <a:off x="9829800" y="2717799"/>
            <a:ext cx="1625600" cy="6350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5  Commit outcome</a:t>
            </a:r>
          </a:p>
        </p:txBody>
      </p:sp>
      <p:sp>
        <p:nvSpPr>
          <p:cNvPr id="30" name="TextBox 29">
            <a:extLst>
              <a:ext uri="{FF2B5EF4-FFF2-40B4-BE49-F238E27FC236}">
                <a16:creationId xmlns:a16="http://schemas.microsoft.com/office/drawing/2014/main" id="{5EEB06FF-49BB-CD30-72A7-432E7599CE19}"/>
              </a:ext>
            </a:extLst>
          </p:cNvPr>
          <p:cNvSpPr txBox="1"/>
          <p:nvPr/>
        </p:nvSpPr>
        <p:spPr>
          <a:xfrm>
            <a:off x="9829800" y="3505200"/>
            <a:ext cx="16256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Persist response with money</a:t>
            </a:r>
          </a:p>
        </p:txBody>
      </p:sp>
      <p:sp>
        <p:nvSpPr>
          <p:cNvPr id="31" name="Rectangle 30">
            <a:extLst>
              <a:ext uri="{FF2B5EF4-FFF2-40B4-BE49-F238E27FC236}">
                <a16:creationId xmlns:a16="http://schemas.microsoft.com/office/drawing/2014/main" id="{DD7447D3-59E4-3BA4-E7F1-D88F6E02F024}"/>
              </a:ext>
            </a:extLst>
          </p:cNvPr>
          <p:cNvSpPr/>
          <p:nvPr/>
        </p:nvSpPr>
        <p:spPr>
          <a:xfrm>
            <a:off x="508000" y="5168900"/>
            <a:ext cx="11176000" cy="8255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0EE87DA-13A1-A5F0-423A-AE474CE187D8}"/>
              </a:ext>
            </a:extLst>
          </p:cNvPr>
          <p:cNvSpPr txBox="1"/>
          <p:nvPr/>
        </p:nvSpPr>
        <p:spPr>
          <a:xfrm>
            <a:off x="762000" y="5410200"/>
            <a:ext cx="10668000" cy="276999"/>
          </a:xfrm>
          <a:prstGeom prst="rect">
            <a:avLst/>
          </a:prstGeom>
          <a:noFill/>
        </p:spPr>
        <p:txBody>
          <a:bodyPr vert="horz" wrap="square" lIns="0" tIns="0" rIns="0" bIns="0" rtlCol="0">
            <a:noAutofit/>
          </a:bodyPr>
          <a:lstStyle/>
          <a:p>
            <a:pPr>
              <a:spcAft>
                <a:spcPts val="800"/>
              </a:spcAft>
            </a:pPr>
            <a:r>
              <a:rPr lang="en-US" sz="2300" b="1">
                <a:solidFill>
                  <a:srgbClr val="E8BF39"/>
                </a:solidFill>
                <a:latin typeface="Aptos" panose="020B0004020202020204" pitchFamily="34" charset="0"/>
              </a:rPr>
              <a:t>ALL COMMIT TOGETHER  /  ALL ROLL BACK TOGETHER</a:t>
            </a:r>
          </a:p>
        </p:txBody>
      </p:sp>
    </p:spTree>
    <p:extLst>
      <p:ext uri="{BB962C8B-B14F-4D97-AF65-F5344CB8AC3E}">
        <p14:creationId xmlns:p14="http://schemas.microsoft.com/office/powerpoint/2010/main" val="1452573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80D00-2835-0A78-BA1E-988C7CC4AB8E}"/>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1F5537-0515-6D08-0801-B86CFFAAB9B4}"/>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Idempotency survives HTTP retries and API replicas</a:t>
            </a:r>
          </a:p>
        </p:txBody>
      </p:sp>
      <p:sp>
        <p:nvSpPr>
          <p:cNvPr id="4" name="TextBox 3">
            <a:extLst>
              <a:ext uri="{FF2B5EF4-FFF2-40B4-BE49-F238E27FC236}">
                <a16:creationId xmlns:a16="http://schemas.microsoft.com/office/drawing/2014/main" id="{CBDF94F1-FE8A-4C34-1201-FBBD7A4F36F9}"/>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The database stores the outcome; the key is not an in-memory cache.</a:t>
            </a:r>
          </a:p>
        </p:txBody>
      </p:sp>
      <p:sp>
        <p:nvSpPr>
          <p:cNvPr id="5" name="TextBox 4">
            <a:extLst>
              <a:ext uri="{FF2B5EF4-FFF2-40B4-BE49-F238E27FC236}">
                <a16:creationId xmlns:a16="http://schemas.microsoft.com/office/drawing/2014/main" id="{74395FBC-A67D-E48B-6B65-25CE45B64527}"/>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4AF91A3E-12E0-820C-E41D-BE68B15CCAB8}"/>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06</a:t>
            </a:r>
          </a:p>
        </p:txBody>
      </p:sp>
      <p:sp>
        <p:nvSpPr>
          <p:cNvPr id="7" name="Rectangle 6">
            <a:extLst>
              <a:ext uri="{FF2B5EF4-FFF2-40B4-BE49-F238E27FC236}">
                <a16:creationId xmlns:a16="http://schemas.microsoft.com/office/drawing/2014/main" id="{3F8A7A2A-915B-6902-E60A-ED69A04B7E3B}"/>
              </a:ext>
            </a:extLst>
          </p:cNvPr>
          <p:cNvSpPr/>
          <p:nvPr/>
        </p:nvSpPr>
        <p:spPr>
          <a:xfrm>
            <a:off x="508000" y="2197100"/>
            <a:ext cx="3302000" cy="1676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8D87112-D6D4-CC76-46E1-5F68044DFAC6}"/>
              </a:ext>
            </a:extLst>
          </p:cNvPr>
          <p:cNvSpPr/>
          <p:nvPr/>
        </p:nvSpPr>
        <p:spPr>
          <a:xfrm>
            <a:off x="508000" y="2197100"/>
            <a:ext cx="50800" cy="1676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79736E4-9851-BBB9-D3EF-DDD9FF240379}"/>
              </a:ext>
            </a:extLst>
          </p:cNvPr>
          <p:cNvSpPr txBox="1"/>
          <p:nvPr/>
        </p:nvSpPr>
        <p:spPr>
          <a:xfrm>
            <a:off x="736600" y="2400299"/>
            <a:ext cx="2844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SCOPED KEY + HASH</a:t>
            </a:r>
          </a:p>
        </p:txBody>
      </p:sp>
      <p:sp>
        <p:nvSpPr>
          <p:cNvPr id="11" name="TextBox 10">
            <a:extLst>
              <a:ext uri="{FF2B5EF4-FFF2-40B4-BE49-F238E27FC236}">
                <a16:creationId xmlns:a16="http://schemas.microsoft.com/office/drawing/2014/main" id="{72B96040-C278-ADAB-1792-DB1ADA8E58B5}"/>
              </a:ext>
            </a:extLst>
          </p:cNvPr>
          <p:cNvSpPr txBox="1"/>
          <p:nvPr/>
        </p:nvSpPr>
        <p:spPr>
          <a:xfrm>
            <a:off x="736600" y="2933700"/>
            <a:ext cx="28448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Customer-scoped transfer key
Canonical request fingerprint</a:t>
            </a:r>
          </a:p>
        </p:txBody>
      </p:sp>
      <p:sp>
        <p:nvSpPr>
          <p:cNvPr id="12" name="Rectangle 11">
            <a:extLst>
              <a:ext uri="{FF2B5EF4-FFF2-40B4-BE49-F238E27FC236}">
                <a16:creationId xmlns:a16="http://schemas.microsoft.com/office/drawing/2014/main" id="{A89722F6-6D10-0D12-818E-3EF5AA4B2EA2}"/>
              </a:ext>
            </a:extLst>
          </p:cNvPr>
          <p:cNvSpPr/>
          <p:nvPr/>
        </p:nvSpPr>
        <p:spPr>
          <a:xfrm>
            <a:off x="4559300" y="2197100"/>
            <a:ext cx="3048000" cy="1676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908934-2FF1-79FE-A1A2-ABA1E6EA35E4}"/>
              </a:ext>
            </a:extLst>
          </p:cNvPr>
          <p:cNvSpPr/>
          <p:nvPr/>
        </p:nvSpPr>
        <p:spPr>
          <a:xfrm>
            <a:off x="4559300" y="2197100"/>
            <a:ext cx="50800" cy="16764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D4AB20E-2BDA-4726-8380-91D6D4B28F56}"/>
              </a:ext>
            </a:extLst>
          </p:cNvPr>
          <p:cNvSpPr txBox="1"/>
          <p:nvPr/>
        </p:nvSpPr>
        <p:spPr>
          <a:xfrm>
            <a:off x="4787900" y="2400299"/>
            <a:ext cx="2590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SQL KEY LOCK</a:t>
            </a:r>
          </a:p>
        </p:txBody>
      </p:sp>
      <p:sp>
        <p:nvSpPr>
          <p:cNvPr id="15" name="TextBox 14">
            <a:extLst>
              <a:ext uri="{FF2B5EF4-FFF2-40B4-BE49-F238E27FC236}">
                <a16:creationId xmlns:a16="http://schemas.microsoft.com/office/drawing/2014/main" id="{37221AC3-4C3D-A960-6AD0-A0B73275D9DB}"/>
              </a:ext>
            </a:extLst>
          </p:cNvPr>
          <p:cNvSpPr txBox="1"/>
          <p:nvPr/>
        </p:nvSpPr>
        <p:spPr>
          <a:xfrm>
            <a:off x="4787900" y="2933700"/>
            <a:ext cx="2590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Serializes duplicates
Across API hosts</a:t>
            </a:r>
          </a:p>
        </p:txBody>
      </p:sp>
      <p:cxnSp>
        <p:nvCxnSpPr>
          <p:cNvPr id="16" name="Straight Connector 15">
            <a:extLst>
              <a:ext uri="{FF2B5EF4-FFF2-40B4-BE49-F238E27FC236}">
                <a16:creationId xmlns:a16="http://schemas.microsoft.com/office/drawing/2014/main" id="{779F6B7B-0E11-CC1D-6D20-A365A203CC39}"/>
              </a:ext>
            </a:extLst>
          </p:cNvPr>
          <p:cNvCxnSpPr/>
          <p:nvPr/>
        </p:nvCxnSpPr>
        <p:spPr>
          <a:xfrm>
            <a:off x="3848100" y="3048000"/>
            <a:ext cx="6477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A3CED5A-4F50-FF61-532E-5950D3EC3BCF}"/>
              </a:ext>
            </a:extLst>
          </p:cNvPr>
          <p:cNvCxnSpPr/>
          <p:nvPr/>
        </p:nvCxnSpPr>
        <p:spPr>
          <a:xfrm>
            <a:off x="7658100" y="3048000"/>
            <a:ext cx="622300" cy="0"/>
          </a:xfrm>
          <a:prstGeom prst="line">
            <a:avLst/>
          </a:prstGeom>
          <a:ln w="25400">
            <a:solidFill>
              <a:srgbClr val="E8BF39"/>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8029CD0-D6DD-4000-BE1C-246DE5145DAD}"/>
              </a:ext>
            </a:extLst>
          </p:cNvPr>
          <p:cNvSpPr/>
          <p:nvPr/>
        </p:nvSpPr>
        <p:spPr>
          <a:xfrm>
            <a:off x="8343900" y="2070100"/>
            <a:ext cx="3340100" cy="1104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0684477-596C-6A24-164D-E51144775685}"/>
              </a:ext>
            </a:extLst>
          </p:cNvPr>
          <p:cNvSpPr/>
          <p:nvPr/>
        </p:nvSpPr>
        <p:spPr>
          <a:xfrm>
            <a:off x="8343900" y="2070100"/>
            <a:ext cx="50800" cy="1104900"/>
          </a:xfrm>
          <a:prstGeom prst="rect">
            <a:avLst/>
          </a:prstGeom>
          <a:solidFill>
            <a:srgbClr val="72D3A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0AE99D5-7E4C-2E4E-2368-0EB0D2264421}"/>
              </a:ext>
            </a:extLst>
          </p:cNvPr>
          <p:cNvSpPr txBox="1"/>
          <p:nvPr/>
        </p:nvSpPr>
        <p:spPr>
          <a:xfrm>
            <a:off x="8572500" y="2273299"/>
            <a:ext cx="2882900" cy="330200"/>
          </a:xfrm>
          <a:prstGeom prst="rect">
            <a:avLst/>
          </a:prstGeom>
          <a:noFill/>
        </p:spPr>
        <p:txBody>
          <a:bodyPr vert="horz" wrap="square" lIns="0" tIns="0" rIns="0" bIns="0" rtlCol="0">
            <a:noAutofit/>
          </a:bodyPr>
          <a:lstStyle/>
          <a:p>
            <a:pPr>
              <a:spcAft>
                <a:spcPts val="800"/>
              </a:spcAft>
            </a:pPr>
            <a:r>
              <a:rPr lang="en-US" sz="2000" b="1">
                <a:solidFill>
                  <a:srgbClr val="72D3AF"/>
                </a:solidFill>
                <a:latin typeface="Aptos" panose="020B0004020202020204" pitchFamily="34" charset="0"/>
              </a:rPr>
              <a:t>MATCH</a:t>
            </a:r>
          </a:p>
        </p:txBody>
      </p:sp>
      <p:sp>
        <p:nvSpPr>
          <p:cNvPr id="25" name="TextBox 24">
            <a:extLst>
              <a:ext uri="{FF2B5EF4-FFF2-40B4-BE49-F238E27FC236}">
                <a16:creationId xmlns:a16="http://schemas.microsoft.com/office/drawing/2014/main" id="{34AD9551-B951-DA2E-5E25-F25EB67BFAEA}"/>
              </a:ext>
            </a:extLst>
          </p:cNvPr>
          <p:cNvSpPr txBox="1"/>
          <p:nvPr/>
        </p:nvSpPr>
        <p:spPr>
          <a:xfrm>
            <a:off x="8572500" y="2806700"/>
            <a:ext cx="2882900" cy="276999"/>
          </a:xfrm>
          <a:prstGeom prst="rect">
            <a:avLst/>
          </a:prstGeom>
          <a:noFill/>
        </p:spPr>
        <p:txBody>
          <a:bodyPr vert="horz" wrap="square" lIns="0" tIns="0" rIns="0" bIns="0" rtlCol="0">
            <a:noAutofit/>
          </a:bodyPr>
          <a:lstStyle/>
          <a:p>
            <a:pPr>
              <a:spcAft>
                <a:spcPts val="800"/>
              </a:spcAft>
            </a:pPr>
            <a:r>
              <a:rPr lang="en-US" sz="1400">
                <a:solidFill>
                  <a:srgbClr val="FFFFFF"/>
                </a:solidFill>
                <a:latin typeface="Aptos" panose="020B0004020202020204" pitchFamily="34" charset="0"/>
              </a:rPr>
              <a:t>Stored status + exact JSON</a:t>
            </a:r>
          </a:p>
        </p:txBody>
      </p:sp>
      <p:sp>
        <p:nvSpPr>
          <p:cNvPr id="26" name="Rectangle 25">
            <a:extLst>
              <a:ext uri="{FF2B5EF4-FFF2-40B4-BE49-F238E27FC236}">
                <a16:creationId xmlns:a16="http://schemas.microsoft.com/office/drawing/2014/main" id="{FD01D58A-9797-4C84-726F-285E209B766C}"/>
              </a:ext>
            </a:extLst>
          </p:cNvPr>
          <p:cNvSpPr/>
          <p:nvPr/>
        </p:nvSpPr>
        <p:spPr>
          <a:xfrm>
            <a:off x="8343900" y="3378200"/>
            <a:ext cx="3340100" cy="1104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E0A942-3F18-FE70-2DDD-9157D0475D4C}"/>
              </a:ext>
            </a:extLst>
          </p:cNvPr>
          <p:cNvSpPr/>
          <p:nvPr/>
        </p:nvSpPr>
        <p:spPr>
          <a:xfrm>
            <a:off x="8343900" y="3378200"/>
            <a:ext cx="50800" cy="1104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D3A5B96-3008-24B6-5DB9-578CD15FCA90}"/>
              </a:ext>
            </a:extLst>
          </p:cNvPr>
          <p:cNvSpPr txBox="1"/>
          <p:nvPr/>
        </p:nvSpPr>
        <p:spPr>
          <a:xfrm>
            <a:off x="8572500" y="3581399"/>
            <a:ext cx="28829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MISMATCH</a:t>
            </a:r>
          </a:p>
        </p:txBody>
      </p:sp>
      <p:sp>
        <p:nvSpPr>
          <p:cNvPr id="33" name="TextBox 32">
            <a:extLst>
              <a:ext uri="{FF2B5EF4-FFF2-40B4-BE49-F238E27FC236}">
                <a16:creationId xmlns:a16="http://schemas.microsoft.com/office/drawing/2014/main" id="{9C25C417-9D75-A062-E763-3292D5DFAB81}"/>
              </a:ext>
            </a:extLst>
          </p:cNvPr>
          <p:cNvSpPr txBox="1"/>
          <p:nvPr/>
        </p:nvSpPr>
        <p:spPr>
          <a:xfrm>
            <a:off x="8572500" y="4114800"/>
            <a:ext cx="2882900" cy="276999"/>
          </a:xfrm>
          <a:prstGeom prst="rect">
            <a:avLst/>
          </a:prstGeom>
          <a:noFill/>
        </p:spPr>
        <p:txBody>
          <a:bodyPr vert="horz" wrap="square" lIns="0" tIns="0" rIns="0" bIns="0" rtlCol="0">
            <a:noAutofit/>
          </a:bodyPr>
          <a:lstStyle/>
          <a:p>
            <a:pPr>
              <a:spcAft>
                <a:spcPts val="800"/>
              </a:spcAft>
            </a:pPr>
            <a:r>
              <a:rPr lang="en-US" sz="1400">
                <a:solidFill>
                  <a:srgbClr val="FFFFFF"/>
                </a:solidFill>
                <a:latin typeface="Aptos" panose="020B0004020202020204" pitchFamily="34" charset="0"/>
              </a:rPr>
              <a:t>409; original outcome unchanged</a:t>
            </a:r>
          </a:p>
        </p:txBody>
      </p:sp>
      <p:sp>
        <p:nvSpPr>
          <p:cNvPr id="34" name="TextBox 33">
            <a:extLst>
              <a:ext uri="{FF2B5EF4-FFF2-40B4-BE49-F238E27FC236}">
                <a16:creationId xmlns:a16="http://schemas.microsoft.com/office/drawing/2014/main" id="{437772CD-357B-5920-C05D-768580F6CE03}"/>
              </a:ext>
            </a:extLst>
          </p:cNvPr>
          <p:cNvSpPr txBox="1"/>
          <p:nvPr/>
        </p:nvSpPr>
        <p:spPr>
          <a:xfrm>
            <a:off x="508000" y="4826000"/>
            <a:ext cx="11176000" cy="276999"/>
          </a:xfrm>
          <a:prstGeom prst="rect">
            <a:avLst/>
          </a:prstGeom>
          <a:noFill/>
        </p:spPr>
        <p:txBody>
          <a:bodyPr vert="horz" wrap="square" lIns="0" tIns="0" rIns="0" bIns="0" rtlCol="0">
            <a:noAutofit/>
          </a:bodyPr>
          <a:lstStyle/>
          <a:p>
            <a:pPr>
              <a:spcAft>
                <a:spcPts val="800"/>
              </a:spcAft>
            </a:pPr>
            <a:r>
              <a:rPr lang="en-US" sz="2500" b="1">
                <a:solidFill>
                  <a:srgbClr val="FFFFFF"/>
                </a:solidFill>
                <a:latin typeface="Aptos" panose="020B0004020202020204" pitchFamily="34" charset="0"/>
              </a:rPr>
              <a:t>A key identifies one intent, including its financial rejection.</a:t>
            </a:r>
          </a:p>
        </p:txBody>
      </p:sp>
      <p:sp>
        <p:nvSpPr>
          <p:cNvPr id="35" name="TextBox 34">
            <a:extLst>
              <a:ext uri="{FF2B5EF4-FFF2-40B4-BE49-F238E27FC236}">
                <a16:creationId xmlns:a16="http://schemas.microsoft.com/office/drawing/2014/main" id="{A4BF69EC-1DFB-9728-9C69-2DFF0F26F412}"/>
              </a:ext>
            </a:extLst>
          </p:cNvPr>
          <p:cNvSpPr txBox="1"/>
          <p:nvPr/>
        </p:nvSpPr>
        <p:spPr>
          <a:xfrm>
            <a:off x="508000" y="5575300"/>
            <a:ext cx="11176000" cy="276999"/>
          </a:xfrm>
          <a:prstGeom prst="rect">
            <a:avLst/>
          </a:prstGeom>
          <a:noFill/>
        </p:spPr>
        <p:txBody>
          <a:bodyPr vert="horz" wrap="square" lIns="0" tIns="0" rIns="0" bIns="0" rtlCol="0">
            <a:noAutofit/>
          </a:bodyPr>
          <a:lstStyle/>
          <a:p>
            <a:pPr>
              <a:spcAft>
                <a:spcPts val="800"/>
              </a:spcAft>
            </a:pPr>
            <a:r>
              <a:rPr lang="en-US">
                <a:solidFill>
                  <a:srgbClr val="BECDD9"/>
                </a:solidFill>
                <a:latin typeface="Aptos" panose="020B0004020202020204" pitchFamily="34" charset="0"/>
              </a:rPr>
              <a:t>Retry the same intent with the same key. Use a new key for a deliberate new attempt.</a:t>
            </a:r>
          </a:p>
        </p:txBody>
      </p:sp>
    </p:spTree>
    <p:extLst>
      <p:ext uri="{BB962C8B-B14F-4D97-AF65-F5344CB8AC3E}">
        <p14:creationId xmlns:p14="http://schemas.microsoft.com/office/powerpoint/2010/main" val="3335082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4DA4BE-05F4-A730-DDC3-02E74D3D3EA8}"/>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4546D8-CABA-5207-4B9E-4957BBF571BE}"/>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Daily limits and audit are inside the safety boundary</a:t>
            </a:r>
          </a:p>
        </p:txBody>
      </p:sp>
      <p:sp>
        <p:nvSpPr>
          <p:cNvPr id="4" name="TextBox 3">
            <a:extLst>
              <a:ext uri="{FF2B5EF4-FFF2-40B4-BE49-F238E27FC236}">
                <a16:creationId xmlns:a16="http://schemas.microsoft.com/office/drawing/2014/main" id="{2C5A0209-6713-CE73-2B65-A3445E31DB28}"/>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Business controls are enforced by the backend, not just the user interface.</a:t>
            </a:r>
          </a:p>
        </p:txBody>
      </p:sp>
      <p:sp>
        <p:nvSpPr>
          <p:cNvPr id="5" name="TextBox 4">
            <a:extLst>
              <a:ext uri="{FF2B5EF4-FFF2-40B4-BE49-F238E27FC236}">
                <a16:creationId xmlns:a16="http://schemas.microsoft.com/office/drawing/2014/main" id="{4E9DD7E6-29A7-C405-CAEE-1DA3FB2A9CFE}"/>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F23BE8EE-3B76-EAB4-63A2-BDE6158333FD}"/>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07</a:t>
            </a:r>
          </a:p>
        </p:txBody>
      </p:sp>
      <p:sp>
        <p:nvSpPr>
          <p:cNvPr id="7" name="Rectangle 6">
            <a:extLst>
              <a:ext uri="{FF2B5EF4-FFF2-40B4-BE49-F238E27FC236}">
                <a16:creationId xmlns:a16="http://schemas.microsoft.com/office/drawing/2014/main" id="{0DC8E852-9ECE-FC20-8FAC-E294AACB534E}"/>
              </a:ext>
            </a:extLst>
          </p:cNvPr>
          <p:cNvSpPr/>
          <p:nvPr/>
        </p:nvSpPr>
        <p:spPr>
          <a:xfrm>
            <a:off x="508000" y="2184400"/>
            <a:ext cx="5359400" cy="30226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5F2B2E5-C8AA-7D8A-70C8-BC106FCE44B9}"/>
              </a:ext>
            </a:extLst>
          </p:cNvPr>
          <p:cNvSpPr/>
          <p:nvPr/>
        </p:nvSpPr>
        <p:spPr>
          <a:xfrm>
            <a:off x="508000" y="2184400"/>
            <a:ext cx="50800" cy="30226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67AA254-8684-346F-7F28-204054953D8C}"/>
              </a:ext>
            </a:extLst>
          </p:cNvPr>
          <p:cNvSpPr txBox="1"/>
          <p:nvPr/>
        </p:nvSpPr>
        <p:spPr>
          <a:xfrm>
            <a:off x="736600" y="23875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WAT OUTBOUND CAP</a:t>
            </a:r>
          </a:p>
        </p:txBody>
      </p:sp>
      <p:sp>
        <p:nvSpPr>
          <p:cNvPr id="10" name="TextBox 9">
            <a:extLst>
              <a:ext uri="{FF2B5EF4-FFF2-40B4-BE49-F238E27FC236}">
                <a16:creationId xmlns:a16="http://schemas.microsoft.com/office/drawing/2014/main" id="{254FEAB8-4E02-EAD3-EAD1-D2F87B881506}"/>
              </a:ext>
            </a:extLst>
          </p:cNvPr>
          <p:cNvSpPr txBox="1"/>
          <p:nvPr/>
        </p:nvSpPr>
        <p:spPr>
          <a:xfrm>
            <a:off x="736600" y="2921000"/>
            <a:ext cx="49022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NGN 500,000 = 50,000,000 kobo
Midnight WAT = 23:00 UTC
Window: start inclusive, end exclusive
Check completed outbound while locked</a:t>
            </a:r>
          </a:p>
        </p:txBody>
      </p:sp>
      <p:sp>
        <p:nvSpPr>
          <p:cNvPr id="11" name="Rectangle 10">
            <a:extLst>
              <a:ext uri="{FF2B5EF4-FFF2-40B4-BE49-F238E27FC236}">
                <a16:creationId xmlns:a16="http://schemas.microsoft.com/office/drawing/2014/main" id="{E0B57E85-0B76-B6A7-09AC-D0651023FE4C}"/>
              </a:ext>
            </a:extLst>
          </p:cNvPr>
          <p:cNvSpPr/>
          <p:nvPr/>
        </p:nvSpPr>
        <p:spPr>
          <a:xfrm>
            <a:off x="6324600" y="2184400"/>
            <a:ext cx="5359400" cy="30226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B16A90-2EBA-0CEA-7E88-167108BB44B8}"/>
              </a:ext>
            </a:extLst>
          </p:cNvPr>
          <p:cNvSpPr/>
          <p:nvPr/>
        </p:nvSpPr>
        <p:spPr>
          <a:xfrm>
            <a:off x="6324600" y="2184400"/>
            <a:ext cx="50800" cy="30226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013CF3E-9FDA-C9A9-E18D-C9B34ED51730}"/>
              </a:ext>
            </a:extLst>
          </p:cNvPr>
          <p:cNvSpPr txBox="1"/>
          <p:nvPr/>
        </p:nvSpPr>
        <p:spPr>
          <a:xfrm>
            <a:off x="6553200" y="23875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APPEND-ONLY EVIDENCE</a:t>
            </a:r>
          </a:p>
        </p:txBody>
      </p:sp>
      <p:sp>
        <p:nvSpPr>
          <p:cNvPr id="14" name="TextBox 13">
            <a:extLst>
              <a:ext uri="{FF2B5EF4-FFF2-40B4-BE49-F238E27FC236}">
                <a16:creationId xmlns:a16="http://schemas.microsoft.com/office/drawing/2014/main" id="{B143CBB5-287C-111D-E73F-411AF75896C4}"/>
              </a:ext>
            </a:extLst>
          </p:cNvPr>
          <p:cNvSpPr txBox="1"/>
          <p:nvPr/>
        </p:nvSpPr>
        <p:spPr>
          <a:xfrm>
            <a:off x="6553200" y="2921000"/>
            <a:ext cx="49022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Audit inserted with the movement
Restricted runtime SQL identity
DENY UPDATE / DELETE + SQL triggers
EF guard rejects history edits</a:t>
            </a:r>
          </a:p>
        </p:txBody>
      </p:sp>
      <p:sp>
        <p:nvSpPr>
          <p:cNvPr id="15" name="TextBox 14">
            <a:extLst>
              <a:ext uri="{FF2B5EF4-FFF2-40B4-BE49-F238E27FC236}">
                <a16:creationId xmlns:a16="http://schemas.microsoft.com/office/drawing/2014/main" id="{CD67E222-70A0-E718-76AC-9D2E6DFE0843}"/>
              </a:ext>
            </a:extLst>
          </p:cNvPr>
          <p:cNvSpPr txBox="1"/>
          <p:nvPr/>
        </p:nvSpPr>
        <p:spPr>
          <a:xfrm>
            <a:off x="508000" y="5575300"/>
            <a:ext cx="11176000" cy="276999"/>
          </a:xfrm>
          <a:prstGeom prst="rect">
            <a:avLst/>
          </a:prstGeom>
          <a:noFill/>
        </p:spPr>
        <p:txBody>
          <a:bodyPr vert="horz" wrap="square" lIns="0" tIns="0" rIns="0" bIns="0" rtlCol="0">
            <a:noAutofit/>
          </a:bodyPr>
          <a:lstStyle/>
          <a:p>
            <a:pPr>
              <a:spcAft>
                <a:spcPts val="800"/>
              </a:spcAft>
            </a:pPr>
            <a:r>
              <a:rPr lang="en-US">
                <a:solidFill>
                  <a:srgbClr val="E8BF39"/>
                </a:solidFill>
                <a:latin typeface="Aptos" panose="020B0004020202020204" pitchFamily="34" charset="0"/>
              </a:rPr>
              <a:t>An audit failure rolls back the money. A malicious administrator needs stronger controls.</a:t>
            </a:r>
          </a:p>
        </p:txBody>
      </p:sp>
    </p:spTree>
    <p:extLst>
      <p:ext uri="{BB962C8B-B14F-4D97-AF65-F5344CB8AC3E}">
        <p14:creationId xmlns:p14="http://schemas.microsoft.com/office/powerpoint/2010/main" val="36147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DD8C49-7E3C-46E8-880D-3CE611535030}"/>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5AB7EE-36DD-ACC4-2CC6-A6ED07D2A5D7}"/>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Secure API boundaries. Reproducible deployment.</a:t>
            </a:r>
          </a:p>
        </p:txBody>
      </p:sp>
      <p:sp>
        <p:nvSpPr>
          <p:cNvPr id="4" name="TextBox 3">
            <a:extLst>
              <a:ext uri="{FF2B5EF4-FFF2-40B4-BE49-F238E27FC236}">
                <a16:creationId xmlns:a16="http://schemas.microsoft.com/office/drawing/2014/main" id="{3E0792D6-CD14-CCD9-B4A8-4D26F237B186}"/>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JWT roles + ownership | consistent errors | one-command assessment startup</a:t>
            </a:r>
          </a:p>
        </p:txBody>
      </p:sp>
      <p:sp>
        <p:nvSpPr>
          <p:cNvPr id="5" name="TextBox 4">
            <a:extLst>
              <a:ext uri="{FF2B5EF4-FFF2-40B4-BE49-F238E27FC236}">
                <a16:creationId xmlns:a16="http://schemas.microsoft.com/office/drawing/2014/main" id="{D607AEED-4654-2CFF-C49B-4C5FECBDE4BA}"/>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F37E2763-6C39-2A0E-D194-3EF6BCBF5B17}"/>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08</a:t>
            </a:r>
          </a:p>
        </p:txBody>
      </p:sp>
      <p:sp>
        <p:nvSpPr>
          <p:cNvPr id="7" name="Rectangle 6">
            <a:extLst>
              <a:ext uri="{FF2B5EF4-FFF2-40B4-BE49-F238E27FC236}">
                <a16:creationId xmlns:a16="http://schemas.microsoft.com/office/drawing/2014/main" id="{5006346A-0CE7-3B3E-9514-BC06E75FADB5}"/>
              </a:ext>
            </a:extLst>
          </p:cNvPr>
          <p:cNvSpPr/>
          <p:nvPr/>
        </p:nvSpPr>
        <p:spPr>
          <a:xfrm>
            <a:off x="508000" y="2159000"/>
            <a:ext cx="3429000" cy="27813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0F432E-AA2C-4E9B-9272-F76C8766ECDA}"/>
              </a:ext>
            </a:extLst>
          </p:cNvPr>
          <p:cNvSpPr/>
          <p:nvPr/>
        </p:nvSpPr>
        <p:spPr>
          <a:xfrm>
            <a:off x="508000" y="2159000"/>
            <a:ext cx="50800" cy="27813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9669568-5D71-A724-8CCA-7854CA053028}"/>
              </a:ext>
            </a:extLst>
          </p:cNvPr>
          <p:cNvSpPr txBox="1"/>
          <p:nvPr/>
        </p:nvSpPr>
        <p:spPr>
          <a:xfrm>
            <a:off x="736600" y="2362199"/>
            <a:ext cx="2971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ACCESS</a:t>
            </a:r>
          </a:p>
        </p:txBody>
      </p:sp>
      <p:sp>
        <p:nvSpPr>
          <p:cNvPr id="12" name="TextBox 11">
            <a:extLst>
              <a:ext uri="{FF2B5EF4-FFF2-40B4-BE49-F238E27FC236}">
                <a16:creationId xmlns:a16="http://schemas.microsoft.com/office/drawing/2014/main" id="{D142743A-856D-9F9C-4BE6-EE6E728F2E45}"/>
              </a:ext>
            </a:extLst>
          </p:cNvPr>
          <p:cNvSpPr txBox="1"/>
          <p:nvPr/>
        </p:nvSpPr>
        <p:spPr>
          <a:xfrm>
            <a:off x="736600" y="2895600"/>
            <a:ext cx="2971800" cy="276999"/>
          </a:xfrm>
          <a:prstGeom prst="rect">
            <a:avLst/>
          </a:prstGeom>
          <a:noFill/>
        </p:spPr>
        <p:txBody>
          <a:bodyPr vert="horz" wrap="square" lIns="0" tIns="0" rIns="0" bIns="0" rtlCol="0">
            <a:noAutofit/>
          </a:bodyPr>
          <a:lstStyle/>
          <a:p>
            <a:pPr>
              <a:spcAft>
                <a:spcPts val="800"/>
              </a:spcAft>
            </a:pPr>
            <a:r>
              <a:rPr lang="en-US" sz="1600">
                <a:solidFill>
                  <a:srgbClr val="FFFFFF"/>
                </a:solidFill>
                <a:latin typeface="Aptos" panose="020B0004020202020204" pitchFamily="34" charset="0"/>
              </a:rPr>
              <a:t>Customer: own wallet / source
FundingSystem: inbound credit
Auditor / Admin: audit trail
JWT signature + claims validated</a:t>
            </a:r>
          </a:p>
        </p:txBody>
      </p:sp>
      <p:sp>
        <p:nvSpPr>
          <p:cNvPr id="13" name="Rectangle 12">
            <a:extLst>
              <a:ext uri="{FF2B5EF4-FFF2-40B4-BE49-F238E27FC236}">
                <a16:creationId xmlns:a16="http://schemas.microsoft.com/office/drawing/2014/main" id="{C4BF62AA-CB09-1107-459B-43723D138BD7}"/>
              </a:ext>
            </a:extLst>
          </p:cNvPr>
          <p:cNvSpPr/>
          <p:nvPr/>
        </p:nvSpPr>
        <p:spPr>
          <a:xfrm>
            <a:off x="4254500" y="2159000"/>
            <a:ext cx="3429000" cy="27813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3D104F-28C6-3412-FDAF-9F737BE340C2}"/>
              </a:ext>
            </a:extLst>
          </p:cNvPr>
          <p:cNvSpPr/>
          <p:nvPr/>
        </p:nvSpPr>
        <p:spPr>
          <a:xfrm>
            <a:off x="4254500" y="2159000"/>
            <a:ext cx="50800" cy="27813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B4F7379-4FB6-77D9-54C5-1C2CD0125276}"/>
              </a:ext>
            </a:extLst>
          </p:cNvPr>
          <p:cNvSpPr txBox="1"/>
          <p:nvPr/>
        </p:nvSpPr>
        <p:spPr>
          <a:xfrm>
            <a:off x="4483100" y="2362199"/>
            <a:ext cx="2971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API OPERATIONS</a:t>
            </a:r>
          </a:p>
        </p:txBody>
      </p:sp>
      <p:sp>
        <p:nvSpPr>
          <p:cNvPr id="17" name="TextBox 16">
            <a:extLst>
              <a:ext uri="{FF2B5EF4-FFF2-40B4-BE49-F238E27FC236}">
                <a16:creationId xmlns:a16="http://schemas.microsoft.com/office/drawing/2014/main" id="{03ADA69D-EAA4-FEB7-845D-D854A3788EA8}"/>
              </a:ext>
            </a:extLst>
          </p:cNvPr>
          <p:cNvSpPr txBox="1"/>
          <p:nvPr/>
        </p:nvSpPr>
        <p:spPr>
          <a:xfrm>
            <a:off x="4483100" y="2895600"/>
            <a:ext cx="29718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Problem Details + trace IDs
Strict integer money inputs
Paginated newest-first history
JSON logs + per-instance limits</a:t>
            </a:r>
          </a:p>
        </p:txBody>
      </p:sp>
      <p:sp>
        <p:nvSpPr>
          <p:cNvPr id="18" name="Rectangle 17">
            <a:extLst>
              <a:ext uri="{FF2B5EF4-FFF2-40B4-BE49-F238E27FC236}">
                <a16:creationId xmlns:a16="http://schemas.microsoft.com/office/drawing/2014/main" id="{F11E0D87-254F-6762-0BA1-C0A5F2B40B92}"/>
              </a:ext>
            </a:extLst>
          </p:cNvPr>
          <p:cNvSpPr/>
          <p:nvPr/>
        </p:nvSpPr>
        <p:spPr>
          <a:xfrm>
            <a:off x="8001000" y="2159000"/>
            <a:ext cx="3683000" cy="27813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5609681-16BB-2542-DF51-C5AD57FCBEC9}"/>
              </a:ext>
            </a:extLst>
          </p:cNvPr>
          <p:cNvSpPr/>
          <p:nvPr/>
        </p:nvSpPr>
        <p:spPr>
          <a:xfrm>
            <a:off x="8001000" y="2159000"/>
            <a:ext cx="50800" cy="27813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CCF7684-9409-9925-5A41-8CAADE6D2D2B}"/>
              </a:ext>
            </a:extLst>
          </p:cNvPr>
          <p:cNvSpPr txBox="1"/>
          <p:nvPr/>
        </p:nvSpPr>
        <p:spPr>
          <a:xfrm>
            <a:off x="8229600" y="2362199"/>
            <a:ext cx="32258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DOCKER COMPOSE</a:t>
            </a:r>
          </a:p>
        </p:txBody>
      </p:sp>
      <p:sp>
        <p:nvSpPr>
          <p:cNvPr id="21" name="TextBox 20">
            <a:extLst>
              <a:ext uri="{FF2B5EF4-FFF2-40B4-BE49-F238E27FC236}">
                <a16:creationId xmlns:a16="http://schemas.microsoft.com/office/drawing/2014/main" id="{58986FC1-D2C1-2883-7FC8-438BC00E1D1C}"/>
              </a:ext>
            </a:extLst>
          </p:cNvPr>
          <p:cNvSpPr txBox="1"/>
          <p:nvPr/>
        </p:nvSpPr>
        <p:spPr>
          <a:xfrm>
            <a:off x="8229600" y="2895600"/>
            <a:ext cx="32258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SQL Server
    -&gt; migrations / login bootstrap
    -&gt; restricted, non-root API
Liveness + database readiness</a:t>
            </a:r>
          </a:p>
        </p:txBody>
      </p:sp>
      <p:sp>
        <p:nvSpPr>
          <p:cNvPr id="22" name="TextBox 21">
            <a:extLst>
              <a:ext uri="{FF2B5EF4-FFF2-40B4-BE49-F238E27FC236}">
                <a16:creationId xmlns:a16="http://schemas.microsoft.com/office/drawing/2014/main" id="{77072408-9F2D-D6D6-3804-AB0C3962D2E5}"/>
              </a:ext>
            </a:extLst>
          </p:cNvPr>
          <p:cNvSpPr txBox="1"/>
          <p:nvPr/>
        </p:nvSpPr>
        <p:spPr>
          <a:xfrm>
            <a:off x="508000" y="5448300"/>
            <a:ext cx="11176000" cy="276999"/>
          </a:xfrm>
          <a:prstGeom prst="rect">
            <a:avLst/>
          </a:prstGeom>
          <a:noFill/>
        </p:spPr>
        <p:txBody>
          <a:bodyPr vert="horz" wrap="square" lIns="0" tIns="0" rIns="0" bIns="0" rtlCol="0">
            <a:noAutofit/>
          </a:bodyPr>
          <a:lstStyle/>
          <a:p>
            <a:pPr>
              <a:spcAft>
                <a:spcPts val="800"/>
              </a:spcAft>
            </a:pPr>
            <a:r>
              <a:rPr lang="en-US" sz="3000" b="1">
                <a:solidFill>
                  <a:srgbClr val="E8BF39"/>
                </a:solidFill>
                <a:latin typeface="Aptos" panose="020B0004020202020204" pitchFamily="34" charset="0"/>
              </a:rPr>
              <a:t>docker compose up</a:t>
            </a:r>
          </a:p>
        </p:txBody>
      </p:sp>
      <p:sp>
        <p:nvSpPr>
          <p:cNvPr id="23" name="TextBox 22">
            <a:extLst>
              <a:ext uri="{FF2B5EF4-FFF2-40B4-BE49-F238E27FC236}">
                <a16:creationId xmlns:a16="http://schemas.microsoft.com/office/drawing/2014/main" id="{FD5BA7FC-EEF2-3B5C-8E39-46A33CF08B2E}"/>
              </a:ext>
            </a:extLst>
          </p:cNvPr>
          <p:cNvSpPr txBox="1"/>
          <p:nvPr/>
        </p:nvSpPr>
        <p:spPr>
          <a:xfrm>
            <a:off x="508000" y="6019800"/>
            <a:ext cx="11176000" cy="276999"/>
          </a:xfrm>
          <a:prstGeom prst="rect">
            <a:avLst/>
          </a:prstGeom>
          <a:noFill/>
        </p:spPr>
        <p:txBody>
          <a:bodyPr vert="horz" wrap="square" lIns="0" tIns="0" rIns="0" bIns="0" rtlCol="0">
            <a:noAutofit/>
          </a:bodyPr>
          <a:lstStyle/>
          <a:p>
            <a:pPr>
              <a:spcAft>
                <a:spcPts val="800"/>
              </a:spcAft>
            </a:pPr>
            <a:r>
              <a:rPr lang="en-US" sz="1500">
                <a:solidFill>
                  <a:srgbClr val="BECDD9"/>
                </a:solidFill>
                <a:latin typeface="Aptos" panose="020B0004020202020204" pitchFamily="34" charset="0"/>
              </a:rPr>
              <a:t>Disposable demo credentials only; no claim of production identity or real NIP integration.</a:t>
            </a:r>
          </a:p>
        </p:txBody>
      </p:sp>
    </p:spTree>
    <p:extLst>
      <p:ext uri="{BB962C8B-B14F-4D97-AF65-F5344CB8AC3E}">
        <p14:creationId xmlns:p14="http://schemas.microsoft.com/office/powerpoint/2010/main" val="1627827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95FC86-A8F9-CDED-9336-E7C0800D1A7B}"/>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BE79A0D-D8B4-DD79-CF74-C594FF7F4548}"/>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Correctness demonstrated against real SQL Server</a:t>
            </a:r>
          </a:p>
        </p:txBody>
      </p:sp>
      <p:sp>
        <p:nvSpPr>
          <p:cNvPr id="4" name="TextBox 3">
            <a:extLst>
              <a:ext uri="{FF2B5EF4-FFF2-40B4-BE49-F238E27FC236}">
                <a16:creationId xmlns:a16="http://schemas.microsoft.com/office/drawing/2014/main" id="{8C478B58-2113-255C-1D53-29E0D2662864}"/>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Recorded 16 September 2026 | 23 unit + 15 integration tests passed; zero failed/skipped.</a:t>
            </a:r>
          </a:p>
        </p:txBody>
      </p:sp>
      <p:sp>
        <p:nvSpPr>
          <p:cNvPr id="5" name="TextBox 4">
            <a:extLst>
              <a:ext uri="{FF2B5EF4-FFF2-40B4-BE49-F238E27FC236}">
                <a16:creationId xmlns:a16="http://schemas.microsoft.com/office/drawing/2014/main" id="{0959204E-D77A-87E5-1581-B714967CBE47}"/>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1D1ACCD0-162E-4E4A-AE64-BA0EECC48C4A}"/>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09</a:t>
            </a:r>
          </a:p>
        </p:txBody>
      </p:sp>
      <p:sp>
        <p:nvSpPr>
          <p:cNvPr id="7" name="Rectangle 6">
            <a:extLst>
              <a:ext uri="{FF2B5EF4-FFF2-40B4-BE49-F238E27FC236}">
                <a16:creationId xmlns:a16="http://schemas.microsoft.com/office/drawing/2014/main" id="{FC885271-716B-1DDD-65AB-BB2ECD5BE727}"/>
              </a:ext>
            </a:extLst>
          </p:cNvPr>
          <p:cNvSpPr/>
          <p:nvPr/>
        </p:nvSpPr>
        <p:spPr>
          <a:xfrm>
            <a:off x="508000" y="2171700"/>
            <a:ext cx="11176000" cy="660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4D6F26B-FD94-D1F5-966A-A981798E6C81}"/>
              </a:ext>
            </a:extLst>
          </p:cNvPr>
          <p:cNvSpPr txBox="1"/>
          <p:nvPr/>
        </p:nvSpPr>
        <p:spPr>
          <a:xfrm>
            <a:off x="698500" y="2336800"/>
            <a:ext cx="33909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100 competing spends</a:t>
            </a:r>
          </a:p>
        </p:txBody>
      </p:sp>
      <p:sp>
        <p:nvSpPr>
          <p:cNvPr id="9" name="TextBox 8">
            <a:extLst>
              <a:ext uri="{FF2B5EF4-FFF2-40B4-BE49-F238E27FC236}">
                <a16:creationId xmlns:a16="http://schemas.microsoft.com/office/drawing/2014/main" id="{73A6FBC9-E8C2-AC9E-1532-942C3CCF9D78}"/>
              </a:ext>
            </a:extLst>
          </p:cNvPr>
          <p:cNvSpPr txBox="1"/>
          <p:nvPr/>
        </p:nvSpPr>
        <p:spPr>
          <a:xfrm>
            <a:off x="4191000" y="2336800"/>
            <a:ext cx="73025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10 succeed / 90 reject; balances and evidence reconcile</a:t>
            </a:r>
          </a:p>
        </p:txBody>
      </p:sp>
      <p:sp>
        <p:nvSpPr>
          <p:cNvPr id="10" name="Rectangle 9">
            <a:extLst>
              <a:ext uri="{FF2B5EF4-FFF2-40B4-BE49-F238E27FC236}">
                <a16:creationId xmlns:a16="http://schemas.microsoft.com/office/drawing/2014/main" id="{F39D7712-DEE1-1309-2829-FF1761AF2D9E}"/>
              </a:ext>
            </a:extLst>
          </p:cNvPr>
          <p:cNvSpPr/>
          <p:nvPr/>
        </p:nvSpPr>
        <p:spPr>
          <a:xfrm>
            <a:off x="508000" y="2921000"/>
            <a:ext cx="11176000" cy="660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266564C-DC44-FEB2-695E-60B799F5237B}"/>
              </a:ext>
            </a:extLst>
          </p:cNvPr>
          <p:cNvSpPr txBox="1"/>
          <p:nvPr/>
        </p:nvSpPr>
        <p:spPr>
          <a:xfrm>
            <a:off x="698500" y="3086100"/>
            <a:ext cx="33909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50 duplicates / 2 hosts</a:t>
            </a:r>
          </a:p>
        </p:txBody>
      </p:sp>
      <p:sp>
        <p:nvSpPr>
          <p:cNvPr id="12" name="TextBox 11">
            <a:extLst>
              <a:ext uri="{FF2B5EF4-FFF2-40B4-BE49-F238E27FC236}">
                <a16:creationId xmlns:a16="http://schemas.microsoft.com/office/drawing/2014/main" id="{19ED7AA0-8D4B-B36C-1BDD-E7908730CF5A}"/>
              </a:ext>
            </a:extLst>
          </p:cNvPr>
          <p:cNvSpPr txBox="1"/>
          <p:nvPr/>
        </p:nvSpPr>
        <p:spPr>
          <a:xfrm>
            <a:off x="4191000" y="3086100"/>
            <a:ext cx="73025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One money movement + 49 response replays</a:t>
            </a:r>
          </a:p>
        </p:txBody>
      </p:sp>
      <p:sp>
        <p:nvSpPr>
          <p:cNvPr id="13" name="Rectangle 12">
            <a:extLst>
              <a:ext uri="{FF2B5EF4-FFF2-40B4-BE49-F238E27FC236}">
                <a16:creationId xmlns:a16="http://schemas.microsoft.com/office/drawing/2014/main" id="{6551C447-E899-C9F7-BD93-62956EEDF0ED}"/>
              </a:ext>
            </a:extLst>
          </p:cNvPr>
          <p:cNvSpPr/>
          <p:nvPr/>
        </p:nvSpPr>
        <p:spPr>
          <a:xfrm>
            <a:off x="508000" y="3670300"/>
            <a:ext cx="11176000" cy="660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B9270AA-4169-CB07-5254-D09CBC452843}"/>
              </a:ext>
            </a:extLst>
          </p:cNvPr>
          <p:cNvSpPr txBox="1"/>
          <p:nvPr/>
        </p:nvSpPr>
        <p:spPr>
          <a:xfrm>
            <a:off x="698500" y="3835400"/>
            <a:ext cx="33909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Limits + boundary time</a:t>
            </a:r>
          </a:p>
        </p:txBody>
      </p:sp>
      <p:sp>
        <p:nvSpPr>
          <p:cNvPr id="15" name="TextBox 14">
            <a:extLst>
              <a:ext uri="{FF2B5EF4-FFF2-40B4-BE49-F238E27FC236}">
                <a16:creationId xmlns:a16="http://schemas.microsoft.com/office/drawing/2014/main" id="{CB2ADB08-B330-A8F3-D7A8-C33087A9CEBD}"/>
              </a:ext>
            </a:extLst>
          </p:cNvPr>
          <p:cNvSpPr txBox="1"/>
          <p:nvPr/>
        </p:nvSpPr>
        <p:spPr>
          <a:xfrm>
            <a:off x="4191000" y="3835400"/>
            <a:ext cx="73025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Contention respects cap; midnight WAT resets allowance</a:t>
            </a:r>
          </a:p>
        </p:txBody>
      </p:sp>
      <p:sp>
        <p:nvSpPr>
          <p:cNvPr id="16" name="Rectangle 15">
            <a:extLst>
              <a:ext uri="{FF2B5EF4-FFF2-40B4-BE49-F238E27FC236}">
                <a16:creationId xmlns:a16="http://schemas.microsoft.com/office/drawing/2014/main" id="{2095A5D3-8801-73F8-B7D9-EC7EDD29BD4F}"/>
              </a:ext>
            </a:extLst>
          </p:cNvPr>
          <p:cNvSpPr/>
          <p:nvPr/>
        </p:nvSpPr>
        <p:spPr>
          <a:xfrm>
            <a:off x="508000" y="4419600"/>
            <a:ext cx="11176000" cy="660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AC83548-1B19-1D05-C1C7-00EDD894CC3F}"/>
              </a:ext>
            </a:extLst>
          </p:cNvPr>
          <p:cNvSpPr txBox="1"/>
          <p:nvPr/>
        </p:nvSpPr>
        <p:spPr>
          <a:xfrm>
            <a:off x="698500" y="4584700"/>
            <a:ext cx="33909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Audit fault + SQL writes</a:t>
            </a:r>
          </a:p>
        </p:txBody>
      </p:sp>
      <p:sp>
        <p:nvSpPr>
          <p:cNvPr id="18" name="TextBox 17">
            <a:extLst>
              <a:ext uri="{FF2B5EF4-FFF2-40B4-BE49-F238E27FC236}">
                <a16:creationId xmlns:a16="http://schemas.microsoft.com/office/drawing/2014/main" id="{703CF428-60B1-079D-9F6B-C47692ED4B70}"/>
              </a:ext>
            </a:extLst>
          </p:cNvPr>
          <p:cNvSpPr txBox="1"/>
          <p:nvPr/>
        </p:nvSpPr>
        <p:spPr>
          <a:xfrm>
            <a:off x="4191000" y="4584700"/>
            <a:ext cx="73025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Whole transfer rolls back; historical edits are blocked</a:t>
            </a:r>
          </a:p>
        </p:txBody>
      </p:sp>
      <p:sp>
        <p:nvSpPr>
          <p:cNvPr id="19" name="Rectangle 18">
            <a:extLst>
              <a:ext uri="{FF2B5EF4-FFF2-40B4-BE49-F238E27FC236}">
                <a16:creationId xmlns:a16="http://schemas.microsoft.com/office/drawing/2014/main" id="{1CA8C14B-D7FE-1304-BCAE-F569CBC75A36}"/>
              </a:ext>
            </a:extLst>
          </p:cNvPr>
          <p:cNvSpPr/>
          <p:nvPr/>
        </p:nvSpPr>
        <p:spPr>
          <a:xfrm>
            <a:off x="508000" y="5168900"/>
            <a:ext cx="11176000" cy="6604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4ABDCAE-69DF-585B-E3C6-2681516AD7CC}"/>
              </a:ext>
            </a:extLst>
          </p:cNvPr>
          <p:cNvSpPr txBox="1"/>
          <p:nvPr/>
        </p:nvSpPr>
        <p:spPr>
          <a:xfrm>
            <a:off x="698500" y="5334000"/>
            <a:ext cx="33909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Deployed Docker smoke</a:t>
            </a:r>
          </a:p>
        </p:txBody>
      </p:sp>
      <p:sp>
        <p:nvSpPr>
          <p:cNvPr id="21" name="TextBox 20">
            <a:extLst>
              <a:ext uri="{FF2B5EF4-FFF2-40B4-BE49-F238E27FC236}">
                <a16:creationId xmlns:a16="http://schemas.microsoft.com/office/drawing/2014/main" id="{4207141D-072B-24E0-292D-C4FC96FA7669}"/>
              </a:ext>
            </a:extLst>
          </p:cNvPr>
          <p:cNvSpPr txBox="1"/>
          <p:nvPr/>
        </p:nvSpPr>
        <p:spPr>
          <a:xfrm>
            <a:off x="4191000" y="5334000"/>
            <a:ext cx="7302500" cy="276999"/>
          </a:xfrm>
          <a:prstGeom prst="rect">
            <a:avLst/>
          </a:prstGeom>
          <a:noFill/>
        </p:spPr>
        <p:txBody>
          <a:bodyPr vert="horz" wrap="square" lIns="0" tIns="0" rIns="0" bIns="0" rtlCol="0">
            <a:noAutofit/>
          </a:bodyPr>
          <a:lstStyle/>
          <a:p>
            <a:pPr>
              <a:spcAft>
                <a:spcPts val="800"/>
              </a:spcAft>
            </a:pPr>
            <a:r>
              <a:rPr lang="en-US" sz="1700">
                <a:solidFill>
                  <a:srgbClr val="FFFFFF"/>
                </a:solidFill>
                <a:latin typeface="Aptos" panose="020B0004020202020204" pitchFamily="34" charset="0"/>
              </a:rPr>
              <a:t>Balances 9,000,000 / 1,000,000 kobo; replay + 409 verified</a:t>
            </a:r>
          </a:p>
        </p:txBody>
      </p:sp>
      <p:sp>
        <p:nvSpPr>
          <p:cNvPr id="22" name="TextBox 21">
            <a:extLst>
              <a:ext uri="{FF2B5EF4-FFF2-40B4-BE49-F238E27FC236}">
                <a16:creationId xmlns:a16="http://schemas.microsoft.com/office/drawing/2014/main" id="{CDCBEFFF-960D-7F2D-FD94-B2468DE8E692}"/>
              </a:ext>
            </a:extLst>
          </p:cNvPr>
          <p:cNvSpPr txBox="1"/>
          <p:nvPr/>
        </p:nvSpPr>
        <p:spPr>
          <a:xfrm>
            <a:off x="508000" y="6070600"/>
            <a:ext cx="11176000" cy="276999"/>
          </a:xfrm>
          <a:prstGeom prst="rect">
            <a:avLst/>
          </a:prstGeom>
          <a:noFill/>
        </p:spPr>
        <p:txBody>
          <a:bodyPr vert="horz" wrap="square" lIns="0" tIns="0" rIns="0" bIns="0" rtlCol="0">
            <a:noAutofit/>
          </a:bodyPr>
          <a:lstStyle/>
          <a:p>
            <a:pPr>
              <a:spcAft>
                <a:spcPts val="800"/>
              </a:spcAft>
            </a:pPr>
            <a:r>
              <a:rPr lang="en-US" sz="1400">
                <a:solidFill>
                  <a:srgbClr val="BECDD9"/>
                </a:solidFill>
                <a:latin typeface="Aptos" panose="020B0004020202020204" pitchFamily="34" charset="0"/>
              </a:rPr>
              <a:t>Correctness evidence, not a performance benchmark or production-readiness certification.</a:t>
            </a:r>
          </a:p>
        </p:txBody>
      </p:sp>
    </p:spTree>
    <p:extLst>
      <p:ext uri="{BB962C8B-B14F-4D97-AF65-F5344CB8AC3E}">
        <p14:creationId xmlns:p14="http://schemas.microsoft.com/office/powerpoint/2010/main" val="3791221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1BF821-633C-99AB-4AC2-DCFADC189B6E}"/>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3B6340B-A363-8A5D-A8BE-F7223E6B0EDE}"/>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Simple scope. Explicit trade-offs. A credible next step.</a:t>
            </a:r>
          </a:p>
        </p:txBody>
      </p:sp>
      <p:sp>
        <p:nvSpPr>
          <p:cNvPr id="4" name="TextBox 3">
            <a:extLst>
              <a:ext uri="{FF2B5EF4-FFF2-40B4-BE49-F238E27FC236}">
                <a16:creationId xmlns:a16="http://schemas.microsoft.com/office/drawing/2014/main" id="{1D02BDCC-FA92-756D-4287-B425E22F736A}"/>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Deliver the mandatory guarantees first; extend without weakening the transaction boundary.</a:t>
            </a:r>
          </a:p>
        </p:txBody>
      </p:sp>
      <p:sp>
        <p:nvSpPr>
          <p:cNvPr id="5" name="TextBox 4">
            <a:extLst>
              <a:ext uri="{FF2B5EF4-FFF2-40B4-BE49-F238E27FC236}">
                <a16:creationId xmlns:a16="http://schemas.microsoft.com/office/drawing/2014/main" id="{C1D327C4-CDD7-A84C-D8CF-60D9FCAEBFB0}"/>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B2DAF62B-321E-9F93-A945-700D4CF3F052}"/>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10</a:t>
            </a:r>
          </a:p>
        </p:txBody>
      </p:sp>
      <p:sp>
        <p:nvSpPr>
          <p:cNvPr id="7" name="Rectangle 6">
            <a:extLst>
              <a:ext uri="{FF2B5EF4-FFF2-40B4-BE49-F238E27FC236}">
                <a16:creationId xmlns:a16="http://schemas.microsoft.com/office/drawing/2014/main" id="{C364D7F9-CA2F-A173-4C33-2A3855711D84}"/>
              </a:ext>
            </a:extLst>
          </p:cNvPr>
          <p:cNvSpPr/>
          <p:nvPr/>
        </p:nvSpPr>
        <p:spPr>
          <a:xfrm>
            <a:off x="508000" y="2184400"/>
            <a:ext cx="5359400" cy="27686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8A40822-F81E-8144-F32F-6D525C74A55D}"/>
              </a:ext>
            </a:extLst>
          </p:cNvPr>
          <p:cNvSpPr/>
          <p:nvPr/>
        </p:nvSpPr>
        <p:spPr>
          <a:xfrm>
            <a:off x="508000" y="2184400"/>
            <a:ext cx="50800" cy="27686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F5E1F8E-E685-C290-7578-47CFACEBFEDB}"/>
              </a:ext>
            </a:extLst>
          </p:cNvPr>
          <p:cNvSpPr txBox="1"/>
          <p:nvPr/>
        </p:nvSpPr>
        <p:spPr>
          <a:xfrm>
            <a:off x="736600" y="23875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DELIVERED NOW</a:t>
            </a:r>
          </a:p>
        </p:txBody>
      </p:sp>
      <p:sp>
        <p:nvSpPr>
          <p:cNvPr id="10" name="TextBox 9">
            <a:extLst>
              <a:ext uri="{FF2B5EF4-FFF2-40B4-BE49-F238E27FC236}">
                <a16:creationId xmlns:a16="http://schemas.microsoft.com/office/drawing/2014/main" id="{4C5A5D24-B76F-6F2D-CF9E-07FC8069BDF8}"/>
              </a:ext>
            </a:extLst>
          </p:cNvPr>
          <p:cNvSpPr txBox="1"/>
          <p:nvPr/>
        </p:nvSpPr>
        <p:spPr>
          <a:xfrm>
            <a:off x="736600" y="2921000"/>
            <a:ext cx="49022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One application; one financial transaction
Durable idempotency + immutable evidence
38 passing automated tests
Compose + Swagger + deployed smoke</a:t>
            </a:r>
          </a:p>
        </p:txBody>
      </p:sp>
      <p:sp>
        <p:nvSpPr>
          <p:cNvPr id="11" name="Rectangle 10">
            <a:extLst>
              <a:ext uri="{FF2B5EF4-FFF2-40B4-BE49-F238E27FC236}">
                <a16:creationId xmlns:a16="http://schemas.microsoft.com/office/drawing/2014/main" id="{17EA849D-D46C-517F-7B55-817B345600D9}"/>
              </a:ext>
            </a:extLst>
          </p:cNvPr>
          <p:cNvSpPr/>
          <p:nvPr/>
        </p:nvSpPr>
        <p:spPr>
          <a:xfrm>
            <a:off x="6324600" y="2184400"/>
            <a:ext cx="5359400" cy="27686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C2E259-5F82-8C1C-4264-6D2E51ADA029}"/>
              </a:ext>
            </a:extLst>
          </p:cNvPr>
          <p:cNvSpPr/>
          <p:nvPr/>
        </p:nvSpPr>
        <p:spPr>
          <a:xfrm>
            <a:off x="6324600" y="2184400"/>
            <a:ext cx="50800" cy="27686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A7BDAF0-8C9E-F53A-C8AB-9F4C013B14BB}"/>
              </a:ext>
            </a:extLst>
          </p:cNvPr>
          <p:cNvSpPr txBox="1"/>
          <p:nvPr/>
        </p:nvSpPr>
        <p:spPr>
          <a:xfrm>
            <a:off x="6553200" y="23875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BEFORE PRODUCTION</a:t>
            </a:r>
          </a:p>
        </p:txBody>
      </p:sp>
      <p:sp>
        <p:nvSpPr>
          <p:cNvPr id="14" name="TextBox 13">
            <a:extLst>
              <a:ext uri="{FF2B5EF4-FFF2-40B4-BE49-F238E27FC236}">
                <a16:creationId xmlns:a16="http://schemas.microsoft.com/office/drawing/2014/main" id="{C8E31D05-9989-BD94-E88D-F0A79EE88702}"/>
              </a:ext>
            </a:extLst>
          </p:cNvPr>
          <p:cNvSpPr txBox="1"/>
          <p:nvPr/>
        </p:nvSpPr>
        <p:spPr>
          <a:xfrm>
            <a:off x="6553200" y="2921000"/>
            <a:ext cx="49022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Managed identity, secrets + runtime upgrade
Real settlement / full accounting design
Admin tamper evidence + disaster recovery
Load, lost-commit and deadlock fault tests</a:t>
            </a:r>
          </a:p>
        </p:txBody>
      </p:sp>
      <p:sp>
        <p:nvSpPr>
          <p:cNvPr id="15" name="TextBox 14">
            <a:extLst>
              <a:ext uri="{FF2B5EF4-FFF2-40B4-BE49-F238E27FC236}">
                <a16:creationId xmlns:a16="http://schemas.microsoft.com/office/drawing/2014/main" id="{316A91BA-8E49-CDF9-78F3-E199A8769F18}"/>
              </a:ext>
            </a:extLst>
          </p:cNvPr>
          <p:cNvSpPr txBox="1"/>
          <p:nvPr/>
        </p:nvSpPr>
        <p:spPr>
          <a:xfrm>
            <a:off x="508000" y="5372100"/>
            <a:ext cx="11176000" cy="276999"/>
          </a:xfrm>
          <a:prstGeom prst="rect">
            <a:avLst/>
          </a:prstGeom>
          <a:noFill/>
        </p:spPr>
        <p:txBody>
          <a:bodyPr vert="horz" wrap="square" lIns="0" tIns="0" rIns="0" bIns="0" rtlCol="0">
            <a:noAutofit/>
          </a:bodyPr>
          <a:lstStyle/>
          <a:p>
            <a:pPr>
              <a:spcAft>
                <a:spcPts val="800"/>
              </a:spcAft>
            </a:pPr>
            <a:r>
              <a:rPr lang="en-US">
                <a:solidFill>
                  <a:srgbClr val="E8BF39"/>
                </a:solidFill>
                <a:latin typeface="Aptos" panose="020B0004020202020204" pitchFamily="34" charset="0"/>
              </a:rPr>
              <a:t>No broker or outbox in this submission. Add an outbox when external side effects exist.</a:t>
            </a:r>
          </a:p>
        </p:txBody>
      </p:sp>
      <p:sp>
        <p:nvSpPr>
          <p:cNvPr id="16" name="TextBox 15">
            <a:extLst>
              <a:ext uri="{FF2B5EF4-FFF2-40B4-BE49-F238E27FC236}">
                <a16:creationId xmlns:a16="http://schemas.microsoft.com/office/drawing/2014/main" id="{41BBB3B2-2B1A-E5DD-6874-D55B38900305}"/>
              </a:ext>
            </a:extLst>
          </p:cNvPr>
          <p:cNvSpPr txBox="1"/>
          <p:nvPr/>
        </p:nvSpPr>
        <p:spPr>
          <a:xfrm>
            <a:off x="508000" y="6007100"/>
            <a:ext cx="11176000" cy="276999"/>
          </a:xfrm>
          <a:prstGeom prst="rect">
            <a:avLst/>
          </a:prstGeom>
          <a:noFill/>
        </p:spPr>
        <p:txBody>
          <a:bodyPr vert="horz" wrap="square" lIns="0" tIns="0" rIns="0" bIns="0" rtlCol="0">
            <a:noAutofit/>
          </a:bodyPr>
          <a:lstStyle/>
          <a:p>
            <a:pPr>
              <a:spcAft>
                <a:spcPts val="800"/>
              </a:spcAft>
            </a:pPr>
            <a:r>
              <a:rPr lang="en-US" sz="1900" b="1">
                <a:solidFill>
                  <a:srgbClr val="FFFFFF"/>
                </a:solidFill>
                <a:latin typeface="Aptos" panose="020B0004020202020204" pitchFamily="34" charset="0"/>
              </a:rPr>
              <a:t>Financial integrity belongs inside the transaction boundary.  |  Questions</a:t>
            </a:r>
          </a:p>
        </p:txBody>
      </p:sp>
    </p:spTree>
    <p:extLst>
      <p:ext uri="{BB962C8B-B14F-4D97-AF65-F5344CB8AC3E}">
        <p14:creationId xmlns:p14="http://schemas.microsoft.com/office/powerpoint/2010/main" val="4017992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BE246D-2A1A-43D0-A463-057D12B1B007}"/>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3DFEEA6-4A45-FAEE-5CAE-DA9715454C06}"/>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Backup | API contracts and permissions</a:t>
            </a:r>
          </a:p>
        </p:txBody>
      </p:sp>
      <p:sp>
        <p:nvSpPr>
          <p:cNvPr id="4" name="TextBox 3">
            <a:extLst>
              <a:ext uri="{FF2B5EF4-FFF2-40B4-BE49-F238E27FC236}">
                <a16:creationId xmlns:a16="http://schemas.microsoft.com/office/drawing/2014/main" id="{551BB7D2-F692-3AA2-E3F8-3474D83C1EA0}"/>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Hidden from the timed slideshow; available for technical questions.</a:t>
            </a:r>
          </a:p>
        </p:txBody>
      </p:sp>
      <p:sp>
        <p:nvSpPr>
          <p:cNvPr id="5" name="TextBox 4">
            <a:extLst>
              <a:ext uri="{FF2B5EF4-FFF2-40B4-BE49-F238E27FC236}">
                <a16:creationId xmlns:a16="http://schemas.microsoft.com/office/drawing/2014/main" id="{07D598A8-59D7-66CC-8EBB-CF4D2F9E93FE}"/>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1DD593F7-0D85-EFDA-5C59-D090290B8D1A}"/>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11</a:t>
            </a:r>
          </a:p>
        </p:txBody>
      </p:sp>
      <p:sp>
        <p:nvSpPr>
          <p:cNvPr id="7" name="TextBox 6">
            <a:extLst>
              <a:ext uri="{FF2B5EF4-FFF2-40B4-BE49-F238E27FC236}">
                <a16:creationId xmlns:a16="http://schemas.microsoft.com/office/drawing/2014/main" id="{AA9C9A9C-1176-7740-6D80-F7E4408383E3}"/>
              </a:ext>
            </a:extLst>
          </p:cNvPr>
          <p:cNvSpPr txBox="1"/>
          <p:nvPr/>
        </p:nvSpPr>
        <p:spPr>
          <a:xfrm>
            <a:off x="508000" y="2120900"/>
            <a:ext cx="57785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POST /wallets</a:t>
            </a:r>
          </a:p>
        </p:txBody>
      </p:sp>
      <p:sp>
        <p:nvSpPr>
          <p:cNvPr id="8" name="TextBox 7">
            <a:extLst>
              <a:ext uri="{FF2B5EF4-FFF2-40B4-BE49-F238E27FC236}">
                <a16:creationId xmlns:a16="http://schemas.microsoft.com/office/drawing/2014/main" id="{A507B739-31CD-952C-D7F7-BC2DD4CB90AF}"/>
              </a:ext>
            </a:extLst>
          </p:cNvPr>
          <p:cNvSpPr txBox="1"/>
          <p:nvPr/>
        </p:nvSpPr>
        <p:spPr>
          <a:xfrm>
            <a:off x="6477000" y="2120900"/>
            <a:ext cx="52070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Customer; own customerId</a:t>
            </a:r>
          </a:p>
        </p:txBody>
      </p:sp>
      <p:sp>
        <p:nvSpPr>
          <p:cNvPr id="9" name="TextBox 8">
            <a:extLst>
              <a:ext uri="{FF2B5EF4-FFF2-40B4-BE49-F238E27FC236}">
                <a16:creationId xmlns:a16="http://schemas.microsoft.com/office/drawing/2014/main" id="{202353DF-8671-DD25-C9EA-9A4A98C9E40C}"/>
              </a:ext>
            </a:extLst>
          </p:cNvPr>
          <p:cNvSpPr txBox="1"/>
          <p:nvPr/>
        </p:nvSpPr>
        <p:spPr>
          <a:xfrm>
            <a:off x="508000" y="2743200"/>
            <a:ext cx="57785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GET /wallets/{id}/balance</a:t>
            </a:r>
          </a:p>
        </p:txBody>
      </p:sp>
      <p:sp>
        <p:nvSpPr>
          <p:cNvPr id="10" name="TextBox 9">
            <a:extLst>
              <a:ext uri="{FF2B5EF4-FFF2-40B4-BE49-F238E27FC236}">
                <a16:creationId xmlns:a16="http://schemas.microsoft.com/office/drawing/2014/main" id="{F23922FC-FCEB-C9DA-381C-16D7925B3240}"/>
              </a:ext>
            </a:extLst>
          </p:cNvPr>
          <p:cNvSpPr txBox="1"/>
          <p:nvPr/>
        </p:nvSpPr>
        <p:spPr>
          <a:xfrm>
            <a:off x="6477000" y="2743200"/>
            <a:ext cx="52070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Customer; owner</a:t>
            </a:r>
          </a:p>
        </p:txBody>
      </p:sp>
      <p:sp>
        <p:nvSpPr>
          <p:cNvPr id="11" name="TextBox 10">
            <a:extLst>
              <a:ext uri="{FF2B5EF4-FFF2-40B4-BE49-F238E27FC236}">
                <a16:creationId xmlns:a16="http://schemas.microsoft.com/office/drawing/2014/main" id="{9F54B681-3B40-3B5B-A0A9-722F10B24100}"/>
              </a:ext>
            </a:extLst>
          </p:cNvPr>
          <p:cNvSpPr txBox="1"/>
          <p:nvPr/>
        </p:nvSpPr>
        <p:spPr>
          <a:xfrm>
            <a:off x="508000" y="3365500"/>
            <a:ext cx="57785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POST /wallets/{id}/credits</a:t>
            </a:r>
          </a:p>
        </p:txBody>
      </p:sp>
      <p:sp>
        <p:nvSpPr>
          <p:cNvPr id="12" name="TextBox 11">
            <a:extLst>
              <a:ext uri="{FF2B5EF4-FFF2-40B4-BE49-F238E27FC236}">
                <a16:creationId xmlns:a16="http://schemas.microsoft.com/office/drawing/2014/main" id="{BB7DFDBB-CF97-832E-61B3-FA6D3D5D8303}"/>
              </a:ext>
            </a:extLst>
          </p:cNvPr>
          <p:cNvSpPr txBox="1"/>
          <p:nvPr/>
        </p:nvSpPr>
        <p:spPr>
          <a:xfrm>
            <a:off x="6477000" y="3365500"/>
            <a:ext cx="52070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FundingSystem / Admin</a:t>
            </a:r>
          </a:p>
        </p:txBody>
      </p:sp>
      <p:sp>
        <p:nvSpPr>
          <p:cNvPr id="13" name="TextBox 12">
            <a:extLst>
              <a:ext uri="{FF2B5EF4-FFF2-40B4-BE49-F238E27FC236}">
                <a16:creationId xmlns:a16="http://schemas.microsoft.com/office/drawing/2014/main" id="{5E8A51F5-1602-6353-5EF4-0BB1BC6BF369}"/>
              </a:ext>
            </a:extLst>
          </p:cNvPr>
          <p:cNvSpPr txBox="1"/>
          <p:nvPr/>
        </p:nvSpPr>
        <p:spPr>
          <a:xfrm>
            <a:off x="508000" y="3987800"/>
            <a:ext cx="57785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POST /transfers</a:t>
            </a:r>
          </a:p>
        </p:txBody>
      </p:sp>
      <p:sp>
        <p:nvSpPr>
          <p:cNvPr id="14" name="TextBox 13">
            <a:extLst>
              <a:ext uri="{FF2B5EF4-FFF2-40B4-BE49-F238E27FC236}">
                <a16:creationId xmlns:a16="http://schemas.microsoft.com/office/drawing/2014/main" id="{0FD01451-A254-3364-A7D1-3DF633633459}"/>
              </a:ext>
            </a:extLst>
          </p:cNvPr>
          <p:cNvSpPr txBox="1"/>
          <p:nvPr/>
        </p:nvSpPr>
        <p:spPr>
          <a:xfrm>
            <a:off x="6477000" y="3987800"/>
            <a:ext cx="52070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Customer; source owner; Idempotency-Key</a:t>
            </a:r>
          </a:p>
        </p:txBody>
      </p:sp>
      <p:sp>
        <p:nvSpPr>
          <p:cNvPr id="15" name="TextBox 14">
            <a:extLst>
              <a:ext uri="{FF2B5EF4-FFF2-40B4-BE49-F238E27FC236}">
                <a16:creationId xmlns:a16="http://schemas.microsoft.com/office/drawing/2014/main" id="{1E7B7FFC-390D-1872-2CEC-6CB4BE223C3C}"/>
              </a:ext>
            </a:extLst>
          </p:cNvPr>
          <p:cNvSpPr txBox="1"/>
          <p:nvPr/>
        </p:nvSpPr>
        <p:spPr>
          <a:xfrm>
            <a:off x="508000" y="4610100"/>
            <a:ext cx="57785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GET /wallets/{id}/statement</a:t>
            </a:r>
          </a:p>
        </p:txBody>
      </p:sp>
      <p:sp>
        <p:nvSpPr>
          <p:cNvPr id="16" name="TextBox 15">
            <a:extLst>
              <a:ext uri="{FF2B5EF4-FFF2-40B4-BE49-F238E27FC236}">
                <a16:creationId xmlns:a16="http://schemas.microsoft.com/office/drawing/2014/main" id="{3F4AC5A2-5C63-467E-AB0C-1B80FEFFC3A0}"/>
              </a:ext>
            </a:extLst>
          </p:cNvPr>
          <p:cNvSpPr txBox="1"/>
          <p:nvPr/>
        </p:nvSpPr>
        <p:spPr>
          <a:xfrm>
            <a:off x="6477000" y="4610100"/>
            <a:ext cx="52070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Customer; owner; page/pageSize</a:t>
            </a:r>
          </a:p>
        </p:txBody>
      </p:sp>
      <p:sp>
        <p:nvSpPr>
          <p:cNvPr id="17" name="TextBox 16">
            <a:extLst>
              <a:ext uri="{FF2B5EF4-FFF2-40B4-BE49-F238E27FC236}">
                <a16:creationId xmlns:a16="http://schemas.microsoft.com/office/drawing/2014/main" id="{0EBEEA3B-4278-0F99-1A43-708AC276446E}"/>
              </a:ext>
            </a:extLst>
          </p:cNvPr>
          <p:cNvSpPr txBox="1"/>
          <p:nvPr/>
        </p:nvSpPr>
        <p:spPr>
          <a:xfrm>
            <a:off x="508000" y="5232400"/>
            <a:ext cx="5778500" cy="276999"/>
          </a:xfrm>
          <a:prstGeom prst="rect">
            <a:avLst/>
          </a:prstGeom>
          <a:noFill/>
        </p:spPr>
        <p:txBody>
          <a:bodyPr vert="horz" wrap="square" lIns="0" tIns="0" rIns="0" bIns="0" rtlCol="0">
            <a:noAutofit/>
          </a:bodyPr>
          <a:lstStyle/>
          <a:p>
            <a:pPr>
              <a:spcAft>
                <a:spcPts val="800"/>
              </a:spcAft>
            </a:pPr>
            <a:r>
              <a:rPr lang="en-US" b="1">
                <a:solidFill>
                  <a:srgbClr val="E8BF39"/>
                </a:solidFill>
                <a:latin typeface="Aptos" panose="020B0004020202020204" pitchFamily="34" charset="0"/>
              </a:rPr>
              <a:t>GET /audit/wallets/{id}</a:t>
            </a:r>
          </a:p>
        </p:txBody>
      </p:sp>
      <p:sp>
        <p:nvSpPr>
          <p:cNvPr id="18" name="TextBox 17">
            <a:extLst>
              <a:ext uri="{FF2B5EF4-FFF2-40B4-BE49-F238E27FC236}">
                <a16:creationId xmlns:a16="http://schemas.microsoft.com/office/drawing/2014/main" id="{6BCA8243-6766-A7C5-D49F-7BC2023B6C1B}"/>
              </a:ext>
            </a:extLst>
          </p:cNvPr>
          <p:cNvSpPr txBox="1"/>
          <p:nvPr/>
        </p:nvSpPr>
        <p:spPr>
          <a:xfrm>
            <a:off x="6477000" y="5232400"/>
            <a:ext cx="52070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Auditor / Admin; page/pageSize</a:t>
            </a:r>
          </a:p>
        </p:txBody>
      </p:sp>
    </p:spTree>
    <p:extLst>
      <p:ext uri="{BB962C8B-B14F-4D97-AF65-F5344CB8AC3E}">
        <p14:creationId xmlns:p14="http://schemas.microsoft.com/office/powerpoint/2010/main" val="2123157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E64164-AAFD-1EF7-DBB3-6E9EF4F7BBE6}"/>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8761A2-BC03-6A19-7C93-A5B54932BE26}"/>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Backup | Failure outcomes and recovery</a:t>
            </a:r>
          </a:p>
        </p:txBody>
      </p:sp>
      <p:sp>
        <p:nvSpPr>
          <p:cNvPr id="4" name="TextBox 3">
            <a:extLst>
              <a:ext uri="{FF2B5EF4-FFF2-40B4-BE49-F238E27FC236}">
                <a16:creationId xmlns:a16="http://schemas.microsoft.com/office/drawing/2014/main" id="{C45ECB80-43FB-93FB-4E8C-B1DA118CD1E5}"/>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A new key means a new intent. A technical retry keeps the original key.</a:t>
            </a:r>
          </a:p>
        </p:txBody>
      </p:sp>
      <p:sp>
        <p:nvSpPr>
          <p:cNvPr id="5" name="TextBox 4">
            <a:extLst>
              <a:ext uri="{FF2B5EF4-FFF2-40B4-BE49-F238E27FC236}">
                <a16:creationId xmlns:a16="http://schemas.microsoft.com/office/drawing/2014/main" id="{6DCAD1D5-1021-7681-2DFF-ECD2921FF36D}"/>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0FD0C5E6-AE60-B8EC-1C0C-1F5F464AAC2F}"/>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12</a:t>
            </a:r>
          </a:p>
        </p:txBody>
      </p:sp>
      <p:sp>
        <p:nvSpPr>
          <p:cNvPr id="7" name="Rectangle 6">
            <a:extLst>
              <a:ext uri="{FF2B5EF4-FFF2-40B4-BE49-F238E27FC236}">
                <a16:creationId xmlns:a16="http://schemas.microsoft.com/office/drawing/2014/main" id="{5F4E470F-378D-5081-9FD9-7F4556C01AA5}"/>
              </a:ext>
            </a:extLst>
          </p:cNvPr>
          <p:cNvSpPr/>
          <p:nvPr/>
        </p:nvSpPr>
        <p:spPr>
          <a:xfrm>
            <a:off x="508000" y="2184400"/>
            <a:ext cx="5359400" cy="1739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CA558EE-94E0-1F07-30D9-59023214DF99}"/>
              </a:ext>
            </a:extLst>
          </p:cNvPr>
          <p:cNvSpPr/>
          <p:nvPr/>
        </p:nvSpPr>
        <p:spPr>
          <a:xfrm>
            <a:off x="508000" y="2184400"/>
            <a:ext cx="50800" cy="1739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6E62DEC-E63D-C78B-AB77-4996D732D239}"/>
              </a:ext>
            </a:extLst>
          </p:cNvPr>
          <p:cNvSpPr txBox="1"/>
          <p:nvPr/>
        </p:nvSpPr>
        <p:spPr>
          <a:xfrm>
            <a:off x="736600" y="23875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BUSINESS OUTCOMES</a:t>
            </a:r>
          </a:p>
        </p:txBody>
      </p:sp>
      <p:sp>
        <p:nvSpPr>
          <p:cNvPr id="14" name="TextBox 13">
            <a:extLst>
              <a:ext uri="{FF2B5EF4-FFF2-40B4-BE49-F238E27FC236}">
                <a16:creationId xmlns:a16="http://schemas.microsoft.com/office/drawing/2014/main" id="{94DDA2EB-5E80-B1DC-AF74-AC8507192038}"/>
              </a:ext>
            </a:extLst>
          </p:cNvPr>
          <p:cNvSpPr txBox="1"/>
          <p:nvPr/>
        </p:nvSpPr>
        <p:spPr>
          <a:xfrm>
            <a:off x="736600" y="2921000"/>
            <a:ext cx="4902200" cy="276999"/>
          </a:xfrm>
          <a:prstGeom prst="rect">
            <a:avLst/>
          </a:prstGeom>
          <a:noFill/>
        </p:spPr>
        <p:txBody>
          <a:bodyPr vert="horz" wrap="square" lIns="0" tIns="0" rIns="0" bIns="0" rtlCol="0">
            <a:noAutofit/>
          </a:bodyPr>
          <a:lstStyle/>
          <a:p>
            <a:pPr>
              <a:spcAft>
                <a:spcPts val="800"/>
              </a:spcAft>
            </a:pPr>
            <a:r>
              <a:rPr lang="en-US" sz="1400">
                <a:solidFill>
                  <a:srgbClr val="FFFFFF"/>
                </a:solidFill>
                <a:latin typeface="Aptos" panose="020B0004020202020204" pitchFamily="34" charset="0"/>
              </a:rPr>
              <a:t>422 financial rejection: stored and replayed
409 changed payload: original unchanged
400 / 403 / 404: no new key reserved</a:t>
            </a:r>
          </a:p>
        </p:txBody>
      </p:sp>
      <p:sp>
        <p:nvSpPr>
          <p:cNvPr id="15" name="Rectangle 14">
            <a:extLst>
              <a:ext uri="{FF2B5EF4-FFF2-40B4-BE49-F238E27FC236}">
                <a16:creationId xmlns:a16="http://schemas.microsoft.com/office/drawing/2014/main" id="{45894FC3-8693-E93A-E92A-D1707F162465}"/>
              </a:ext>
            </a:extLst>
          </p:cNvPr>
          <p:cNvSpPr/>
          <p:nvPr/>
        </p:nvSpPr>
        <p:spPr>
          <a:xfrm>
            <a:off x="6324600" y="2184400"/>
            <a:ext cx="5359400" cy="17399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C85B30-D9EE-6360-BC02-79ADF7EDB56C}"/>
              </a:ext>
            </a:extLst>
          </p:cNvPr>
          <p:cNvSpPr/>
          <p:nvPr/>
        </p:nvSpPr>
        <p:spPr>
          <a:xfrm>
            <a:off x="6324600" y="2184400"/>
            <a:ext cx="50800" cy="17399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3607BFA-4C2D-298F-4CE6-3350C1D60C47}"/>
              </a:ext>
            </a:extLst>
          </p:cNvPr>
          <p:cNvSpPr txBox="1"/>
          <p:nvPr/>
        </p:nvSpPr>
        <p:spPr>
          <a:xfrm>
            <a:off x="6553200" y="23875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TECHNICAL OUTCOMES</a:t>
            </a:r>
          </a:p>
        </p:txBody>
      </p:sp>
      <p:sp>
        <p:nvSpPr>
          <p:cNvPr id="22" name="TextBox 21">
            <a:extLst>
              <a:ext uri="{FF2B5EF4-FFF2-40B4-BE49-F238E27FC236}">
                <a16:creationId xmlns:a16="http://schemas.microsoft.com/office/drawing/2014/main" id="{03CB06D0-560E-CA15-1C7C-2E5903BB85BC}"/>
              </a:ext>
            </a:extLst>
          </p:cNvPr>
          <p:cNvSpPr txBox="1"/>
          <p:nvPr/>
        </p:nvSpPr>
        <p:spPr>
          <a:xfrm>
            <a:off x="6553200" y="2921000"/>
            <a:ext cx="4902200" cy="276999"/>
          </a:xfrm>
          <a:prstGeom prst="rect">
            <a:avLst/>
          </a:prstGeom>
          <a:noFill/>
        </p:spPr>
        <p:txBody>
          <a:bodyPr vert="horz" wrap="square" lIns="0" tIns="0" rIns="0" bIns="0" rtlCol="0">
            <a:noAutofit/>
          </a:bodyPr>
          <a:lstStyle/>
          <a:p>
            <a:pPr>
              <a:spcAft>
                <a:spcPts val="800"/>
              </a:spcAft>
            </a:pPr>
            <a:r>
              <a:rPr lang="en-US" sz="1400">
                <a:solidFill>
                  <a:srgbClr val="FFFFFF"/>
                </a:solidFill>
                <a:latin typeface="Aptos" panose="020B0004020202020204" pitchFamily="34" charset="0"/>
              </a:rPr>
              <a:t>Lock timeout: 503; retry same key
Transient SQL: bounded fresh-context retry
Uncertain outcome: verify via same-key retry</a:t>
            </a:r>
          </a:p>
        </p:txBody>
      </p:sp>
      <p:sp>
        <p:nvSpPr>
          <p:cNvPr id="23" name="TextBox 22">
            <a:extLst>
              <a:ext uri="{FF2B5EF4-FFF2-40B4-BE49-F238E27FC236}">
                <a16:creationId xmlns:a16="http://schemas.microsoft.com/office/drawing/2014/main" id="{B542AB33-8763-9EFD-3A6A-5300EA07FF61}"/>
              </a:ext>
            </a:extLst>
          </p:cNvPr>
          <p:cNvSpPr txBox="1"/>
          <p:nvPr/>
        </p:nvSpPr>
        <p:spPr>
          <a:xfrm>
            <a:off x="508000" y="4635500"/>
            <a:ext cx="11176000" cy="276999"/>
          </a:xfrm>
          <a:prstGeom prst="rect">
            <a:avLst/>
          </a:prstGeom>
          <a:noFill/>
        </p:spPr>
        <p:txBody>
          <a:bodyPr vert="horz" wrap="square" lIns="0" tIns="0" rIns="0" bIns="0" rtlCol="0">
            <a:noAutofit/>
          </a:bodyPr>
          <a:lstStyle/>
          <a:p>
            <a:pPr>
              <a:spcAft>
                <a:spcPts val="800"/>
              </a:spcAft>
            </a:pPr>
            <a:r>
              <a:rPr lang="en-US" sz="2900" b="1">
                <a:solidFill>
                  <a:srgbClr val="E8BF39"/>
                </a:solidFill>
                <a:latin typeface="Aptos" panose="020B0004020202020204" pitchFamily="34" charset="0"/>
              </a:rPr>
              <a:t>Do not turn a network timeout into a second payment.</a:t>
            </a:r>
          </a:p>
        </p:txBody>
      </p:sp>
      <p:sp>
        <p:nvSpPr>
          <p:cNvPr id="24" name="TextBox 23">
            <a:extLst>
              <a:ext uri="{FF2B5EF4-FFF2-40B4-BE49-F238E27FC236}">
                <a16:creationId xmlns:a16="http://schemas.microsoft.com/office/drawing/2014/main" id="{3D1018A6-C7A4-C24C-E672-D2070989F55B}"/>
              </a:ext>
            </a:extLst>
          </p:cNvPr>
          <p:cNvSpPr txBox="1"/>
          <p:nvPr/>
        </p:nvSpPr>
        <p:spPr>
          <a:xfrm>
            <a:off x="508000" y="5397500"/>
            <a:ext cx="11176000" cy="276999"/>
          </a:xfrm>
          <a:prstGeom prst="rect">
            <a:avLst/>
          </a:prstGeom>
          <a:noFill/>
        </p:spPr>
        <p:txBody>
          <a:bodyPr vert="horz" wrap="square" lIns="0" tIns="0" rIns="0" bIns="0" rtlCol="0">
            <a:noAutofit/>
          </a:bodyPr>
          <a:lstStyle/>
          <a:p>
            <a:pPr>
              <a:spcAft>
                <a:spcPts val="800"/>
              </a:spcAft>
            </a:pPr>
            <a:r>
              <a:rPr lang="en-US" sz="2100">
                <a:solidFill>
                  <a:srgbClr val="FFFFFF"/>
                </a:solidFill>
                <a:latin typeface="Aptos" panose="020B0004020202020204" pitchFamily="34" charset="0"/>
              </a:rPr>
              <a:t>Database state is authoritative; transport success alone is not the financial truth.</a:t>
            </a:r>
          </a:p>
        </p:txBody>
      </p:sp>
    </p:spTree>
    <p:extLst>
      <p:ext uri="{BB962C8B-B14F-4D97-AF65-F5344CB8AC3E}">
        <p14:creationId xmlns:p14="http://schemas.microsoft.com/office/powerpoint/2010/main" val="1127793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17203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2BAAC0-D994-6C18-3D5A-932507DEA847}"/>
              </a:ext>
            </a:extLst>
          </p:cNvPr>
          <p:cNvSpPr/>
          <p:nvPr/>
        </p:nvSpPr>
        <p:spPr>
          <a:xfrm>
            <a:off x="508000" y="406400"/>
            <a:ext cx="482600" cy="508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23F3BEA-7E06-570E-DEAF-D4E7CF8598C1}"/>
              </a:ext>
            </a:extLst>
          </p:cNvPr>
          <p:cNvSpPr txBox="1"/>
          <p:nvPr/>
        </p:nvSpPr>
        <p:spPr>
          <a:xfrm>
            <a:off x="508000" y="647700"/>
            <a:ext cx="11176000" cy="276999"/>
          </a:xfrm>
          <a:prstGeom prst="rect">
            <a:avLst/>
          </a:prstGeom>
          <a:noFill/>
        </p:spPr>
        <p:txBody>
          <a:bodyPr vert="horz" wrap="square" lIns="0" tIns="0" rIns="0" bIns="0" rtlCol="0">
            <a:noAutofit/>
          </a:bodyPr>
          <a:lstStyle/>
          <a:p>
            <a:pPr>
              <a:spcAft>
                <a:spcPts val="800"/>
              </a:spcAft>
            </a:pPr>
            <a:r>
              <a:rPr lang="en-US" sz="3200" b="1">
                <a:solidFill>
                  <a:srgbClr val="FFFFFF"/>
                </a:solidFill>
                <a:latin typeface="Aptos" panose="020B0004020202020204" pitchFamily="34" charset="0"/>
              </a:rPr>
              <a:t>Backup | AI assistance and evidence discipline</a:t>
            </a:r>
          </a:p>
        </p:txBody>
      </p:sp>
      <p:sp>
        <p:nvSpPr>
          <p:cNvPr id="4" name="TextBox 3">
            <a:extLst>
              <a:ext uri="{FF2B5EF4-FFF2-40B4-BE49-F238E27FC236}">
                <a16:creationId xmlns:a16="http://schemas.microsoft.com/office/drawing/2014/main" id="{5496069D-8213-971A-0DD4-CF53DA88912B}"/>
              </a:ext>
            </a:extLst>
          </p:cNvPr>
          <p:cNvSpPr txBox="1"/>
          <p:nvPr/>
        </p:nvSpPr>
        <p:spPr>
          <a:xfrm>
            <a:off x="508000" y="1409700"/>
            <a:ext cx="11176000" cy="276999"/>
          </a:xfrm>
          <a:prstGeom prst="rect">
            <a:avLst/>
          </a:prstGeom>
          <a:noFill/>
        </p:spPr>
        <p:txBody>
          <a:bodyPr vert="horz" wrap="square" lIns="0" tIns="0" rIns="0" bIns="0" rtlCol="0">
            <a:noAutofit/>
          </a:bodyPr>
          <a:lstStyle/>
          <a:p>
            <a:pPr>
              <a:spcAft>
                <a:spcPts val="800"/>
              </a:spcAft>
            </a:pPr>
            <a:r>
              <a:rPr lang="en-US" sz="1600">
                <a:solidFill>
                  <a:srgbClr val="BECDD9"/>
                </a:solidFill>
                <a:latin typeface="Aptos" panose="020B0004020202020204" pitchFamily="34" charset="0"/>
              </a:rPr>
              <a:t>AI output was reviewed and corrected; passing tests, not generated code, support the claims.</a:t>
            </a:r>
          </a:p>
        </p:txBody>
      </p:sp>
      <p:sp>
        <p:nvSpPr>
          <p:cNvPr id="5" name="TextBox 4">
            <a:extLst>
              <a:ext uri="{FF2B5EF4-FFF2-40B4-BE49-F238E27FC236}">
                <a16:creationId xmlns:a16="http://schemas.microsoft.com/office/drawing/2014/main" id="{E99B427D-9F5F-6B18-E9BF-D6BE7764AE56}"/>
              </a:ext>
            </a:extLst>
          </p:cNvPr>
          <p:cNvSpPr txBox="1"/>
          <p:nvPr/>
        </p:nvSpPr>
        <p:spPr>
          <a:xfrm>
            <a:off x="508000" y="6464300"/>
            <a:ext cx="10033000" cy="276999"/>
          </a:xfrm>
          <a:prstGeom prst="rect">
            <a:avLst/>
          </a:prstGeom>
          <a:noFill/>
        </p:spPr>
        <p:txBody>
          <a:bodyPr vert="horz" wrap="square" lIns="0" tIns="0" rIns="0" bIns="0" rtlCol="0">
            <a:noAutofit/>
          </a:bodyPr>
          <a:lstStyle/>
          <a:p>
            <a:pPr>
              <a:spcAft>
                <a:spcPts val="800"/>
              </a:spcAft>
            </a:pPr>
            <a:r>
              <a:rPr lang="en-US" sz="1000">
                <a:solidFill>
                  <a:srgbClr val="BECDD9"/>
                </a:solidFill>
                <a:latin typeface="Aptos" panose="020B0004020202020204" pitchFamily="34" charset="0"/>
              </a:rPr>
              <a:t>ANDREW OSABUEDE GABRIEL  |  FIRSTBANK .NET ASSESSMENT</a:t>
            </a:r>
          </a:p>
        </p:txBody>
      </p:sp>
      <p:sp>
        <p:nvSpPr>
          <p:cNvPr id="6" name="TextBox 5">
            <a:extLst>
              <a:ext uri="{FF2B5EF4-FFF2-40B4-BE49-F238E27FC236}">
                <a16:creationId xmlns:a16="http://schemas.microsoft.com/office/drawing/2014/main" id="{1B1EEC6D-713D-F7C4-E9C1-F24709E78F40}"/>
              </a:ext>
            </a:extLst>
          </p:cNvPr>
          <p:cNvSpPr txBox="1"/>
          <p:nvPr/>
        </p:nvSpPr>
        <p:spPr>
          <a:xfrm>
            <a:off x="11049000" y="6413500"/>
            <a:ext cx="698500" cy="276999"/>
          </a:xfrm>
          <a:prstGeom prst="rect">
            <a:avLst/>
          </a:prstGeom>
          <a:noFill/>
        </p:spPr>
        <p:txBody>
          <a:bodyPr vert="horz" wrap="square" lIns="0" tIns="0" rIns="0" bIns="0" rtlCol="0">
            <a:noAutofit/>
          </a:bodyPr>
          <a:lstStyle/>
          <a:p>
            <a:pPr>
              <a:spcAft>
                <a:spcPts val="800"/>
              </a:spcAft>
            </a:pPr>
            <a:r>
              <a:rPr lang="en-US" sz="1300" b="1">
                <a:solidFill>
                  <a:srgbClr val="E8BF39"/>
                </a:solidFill>
                <a:latin typeface="Aptos" panose="020B0004020202020204" pitchFamily="34" charset="0"/>
              </a:rPr>
              <a:t>13</a:t>
            </a:r>
          </a:p>
        </p:txBody>
      </p:sp>
      <p:sp>
        <p:nvSpPr>
          <p:cNvPr id="7" name="Rectangle 6">
            <a:extLst>
              <a:ext uri="{FF2B5EF4-FFF2-40B4-BE49-F238E27FC236}">
                <a16:creationId xmlns:a16="http://schemas.microsoft.com/office/drawing/2014/main" id="{85C080B9-A591-3032-DB10-BE13AA83D054}"/>
              </a:ext>
            </a:extLst>
          </p:cNvPr>
          <p:cNvSpPr/>
          <p:nvPr/>
        </p:nvSpPr>
        <p:spPr>
          <a:xfrm>
            <a:off x="508000" y="2209800"/>
            <a:ext cx="5359400" cy="27686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7C6F685-74E0-A875-33F3-A6D7C50D232B}"/>
              </a:ext>
            </a:extLst>
          </p:cNvPr>
          <p:cNvSpPr/>
          <p:nvPr/>
        </p:nvSpPr>
        <p:spPr>
          <a:xfrm>
            <a:off x="508000" y="2209800"/>
            <a:ext cx="50800" cy="27686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778857E-C31A-461B-AA06-19157852B3EB}"/>
              </a:ext>
            </a:extLst>
          </p:cNvPr>
          <p:cNvSpPr txBox="1"/>
          <p:nvPr/>
        </p:nvSpPr>
        <p:spPr>
          <a:xfrm>
            <a:off x="736600" y="24129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REVIEWED AND CORRECTED</a:t>
            </a:r>
          </a:p>
        </p:txBody>
      </p:sp>
      <p:sp>
        <p:nvSpPr>
          <p:cNvPr id="10" name="TextBox 9">
            <a:extLst>
              <a:ext uri="{FF2B5EF4-FFF2-40B4-BE49-F238E27FC236}">
                <a16:creationId xmlns:a16="http://schemas.microsoft.com/office/drawing/2014/main" id="{5222D3FE-0F2F-4902-9150-CD31F7999FCA}"/>
              </a:ext>
            </a:extLst>
          </p:cNvPr>
          <p:cNvSpPr txBox="1"/>
          <p:nvPr/>
        </p:nvSpPr>
        <p:spPr>
          <a:xfrm>
            <a:off x="736600" y="2946400"/>
            <a:ext cx="49022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Application-only audit advice was too weak
Added permissions + triggers + EF guard
HTTP tests exposed DTO validation metadata
Corrected targets; reran SQL suite</a:t>
            </a:r>
          </a:p>
        </p:txBody>
      </p:sp>
      <p:sp>
        <p:nvSpPr>
          <p:cNvPr id="11" name="Rectangle 10">
            <a:extLst>
              <a:ext uri="{FF2B5EF4-FFF2-40B4-BE49-F238E27FC236}">
                <a16:creationId xmlns:a16="http://schemas.microsoft.com/office/drawing/2014/main" id="{0B7937D2-4B4E-0D17-FA69-E0CFCA01C855}"/>
              </a:ext>
            </a:extLst>
          </p:cNvPr>
          <p:cNvSpPr/>
          <p:nvPr/>
        </p:nvSpPr>
        <p:spPr>
          <a:xfrm>
            <a:off x="6324600" y="2209800"/>
            <a:ext cx="5359400" cy="2768600"/>
          </a:xfrm>
          <a:prstGeom prst="rect">
            <a:avLst/>
          </a:prstGeom>
          <a:solidFill>
            <a:srgbClr val="2533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2C85C4-AD3E-1531-7510-8966E8A757E0}"/>
              </a:ext>
            </a:extLst>
          </p:cNvPr>
          <p:cNvSpPr/>
          <p:nvPr/>
        </p:nvSpPr>
        <p:spPr>
          <a:xfrm>
            <a:off x="6324600" y="2209800"/>
            <a:ext cx="50800" cy="2768600"/>
          </a:xfrm>
          <a:prstGeom prst="rect">
            <a:avLst/>
          </a:prstGeom>
          <a:solidFill>
            <a:srgbClr val="E8BF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24DBA62-0F8F-DB80-88AE-B796B96D7A88}"/>
              </a:ext>
            </a:extLst>
          </p:cNvPr>
          <p:cNvSpPr txBox="1"/>
          <p:nvPr/>
        </p:nvSpPr>
        <p:spPr>
          <a:xfrm>
            <a:off x="6553200" y="2412999"/>
            <a:ext cx="4902200" cy="330200"/>
          </a:xfrm>
          <a:prstGeom prst="rect">
            <a:avLst/>
          </a:prstGeom>
          <a:noFill/>
        </p:spPr>
        <p:txBody>
          <a:bodyPr vert="horz" wrap="square" lIns="0" tIns="0" rIns="0" bIns="0" rtlCol="0">
            <a:noAutofit/>
          </a:bodyPr>
          <a:lstStyle/>
          <a:p>
            <a:pPr>
              <a:spcAft>
                <a:spcPts val="800"/>
              </a:spcAft>
            </a:pPr>
            <a:r>
              <a:rPr lang="en-US" sz="2000" b="1">
                <a:solidFill>
                  <a:srgbClr val="E8BF39"/>
                </a:solidFill>
                <a:latin typeface="Aptos" panose="020B0004020202020204" pitchFamily="34" charset="0"/>
              </a:rPr>
              <a:t>TRACEABLE HANDOFF</a:t>
            </a:r>
          </a:p>
        </p:txBody>
      </p:sp>
      <p:sp>
        <p:nvSpPr>
          <p:cNvPr id="14" name="TextBox 13">
            <a:extLst>
              <a:ext uri="{FF2B5EF4-FFF2-40B4-BE49-F238E27FC236}">
                <a16:creationId xmlns:a16="http://schemas.microsoft.com/office/drawing/2014/main" id="{8D98067A-8064-5454-B007-2FB9688EA91D}"/>
              </a:ext>
            </a:extLst>
          </p:cNvPr>
          <p:cNvSpPr txBox="1"/>
          <p:nvPr/>
        </p:nvSpPr>
        <p:spPr>
          <a:xfrm>
            <a:off x="6553200" y="2946400"/>
            <a:ext cx="4902200" cy="276999"/>
          </a:xfrm>
          <a:prstGeom prst="rect">
            <a:avLst/>
          </a:prstGeom>
          <a:noFill/>
        </p:spPr>
        <p:txBody>
          <a:bodyPr vert="horz" wrap="square" lIns="0" tIns="0" rIns="0" bIns="0" rtlCol="0">
            <a:noAutofit/>
          </a:bodyPr>
          <a:lstStyle/>
          <a:p>
            <a:pPr>
              <a:spcAft>
                <a:spcPts val="800"/>
              </a:spcAft>
            </a:pPr>
            <a:r>
              <a:rPr lang="en-US">
                <a:solidFill>
                  <a:srgbClr val="FFFFFF"/>
                </a:solidFill>
                <a:latin typeface="Aptos" panose="020B0004020202020204" pitchFamily="34" charset="0"/>
              </a:rPr>
              <a:t>TECHNICAL_DESIGN.md: decisions + boundaries
README.md: run, demo and tests
AI_USAGE.md: actual prompts + corrections
Evidence snapshot: 16 September 2026</a:t>
            </a:r>
          </a:p>
        </p:txBody>
      </p:sp>
      <p:sp>
        <p:nvSpPr>
          <p:cNvPr id="15" name="TextBox 14">
            <a:extLst>
              <a:ext uri="{FF2B5EF4-FFF2-40B4-BE49-F238E27FC236}">
                <a16:creationId xmlns:a16="http://schemas.microsoft.com/office/drawing/2014/main" id="{9C26229A-93C1-EDCF-0D63-620D75CAB953}"/>
              </a:ext>
            </a:extLst>
          </p:cNvPr>
          <p:cNvSpPr txBox="1"/>
          <p:nvPr/>
        </p:nvSpPr>
        <p:spPr>
          <a:xfrm>
            <a:off x="508000" y="5549900"/>
            <a:ext cx="11176000" cy="276999"/>
          </a:xfrm>
          <a:prstGeom prst="rect">
            <a:avLst/>
          </a:prstGeom>
          <a:noFill/>
        </p:spPr>
        <p:txBody>
          <a:bodyPr vert="horz" wrap="square" lIns="0" tIns="0" rIns="0" bIns="0" rtlCol="0">
            <a:noAutofit/>
          </a:bodyPr>
          <a:lstStyle/>
          <a:p>
            <a:pPr>
              <a:spcAft>
                <a:spcPts val="800"/>
              </a:spcAft>
            </a:pPr>
            <a:r>
              <a:rPr lang="en-US" sz="2300" b="1">
                <a:solidFill>
                  <a:srgbClr val="E8BF39"/>
                </a:solidFill>
                <a:latin typeface="Aptos" panose="020B0004020202020204" pitchFamily="34" charset="0"/>
              </a:rPr>
              <a:t>Code review owns the solution. AI assistance does not replace verification.</a:t>
            </a:r>
          </a:p>
        </p:txBody>
      </p:sp>
    </p:spTree>
    <p:extLst>
      <p:ext uri="{BB962C8B-B14F-4D97-AF65-F5344CB8AC3E}">
        <p14:creationId xmlns:p14="http://schemas.microsoft.com/office/powerpoint/2010/main" val="629903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3083</Words>
  <Application>Microsoft Office PowerPoint</Application>
  <PresentationFormat>Custom</PresentationFormat>
  <Paragraphs>197</Paragraphs>
  <Slides>13</Slides>
  <Notes>13</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Gabriel</dc:creator>
  <cp:lastModifiedBy>Andrew Gabriel</cp:lastModifiedBy>
  <cp:revision>1</cp:revision>
  <dcterms:created xsi:type="dcterms:W3CDTF">2026-09-17T08:42:39Z</dcterms:created>
  <dcterms:modified xsi:type="dcterms:W3CDTF">2026-09-17T08:42:39Z</dcterms:modified>
</cp:coreProperties>
</file>